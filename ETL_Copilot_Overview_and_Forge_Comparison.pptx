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d56111450fe4fa8" /><Relationship Type="http://schemas.openxmlformats.org/officeDocument/2006/relationships/extended-properties" Target="/docProps/app.xml" Id="R8b42b2368d1844f0" /><Relationship Type="http://schemas.openxmlformats.org/officeDocument/2006/relationships/officeDocument" Target="/ppt/presentation.xml" Id="R96275e52f900429d" /></Relationships>
</file>

<file path=ppt/presentation.xml><?xml version="1.0" encoding="utf-8"?>
<p:presentation xmlns:p="http://schemas.openxmlformats.org/presentationml/2006/main">
  <p:sldMasterIdLst>
    <p:sldMasterId xmlns:r="http://schemas.openxmlformats.org/officeDocument/2006/relationships" id="2147483648" r:id="R9a38a03cc01e4e93"/>
  </p:sldMasterIdLst>
  <p:notesMasterIdLst>
    <p:notesMasterId xmlns:r="http://schemas.openxmlformats.org/officeDocument/2006/relationships" r:id="Ree810f89449f412a"/>
  </p:notesMasterIdLst>
  <p:sldIdLst>
    <p:sldId xmlns:r="http://schemas.openxmlformats.org/officeDocument/2006/relationships" id="256" r:id="R3b45c8d45d774722"/>
    <p:sldId xmlns:r="http://schemas.openxmlformats.org/officeDocument/2006/relationships" id="257" r:id="R0a30f86681bf44e9"/>
    <p:sldId xmlns:r="http://schemas.openxmlformats.org/officeDocument/2006/relationships" id="258" r:id="Rfb9a7e4dcb904507"/>
    <p:sldId xmlns:r="http://schemas.openxmlformats.org/officeDocument/2006/relationships" id="259" r:id="Re577cc96efe94af2"/>
    <p:sldId xmlns:r="http://schemas.openxmlformats.org/officeDocument/2006/relationships" id="260" r:id="R40b7564d7fea4598"/>
    <p:sldId xmlns:r="http://schemas.openxmlformats.org/officeDocument/2006/relationships" id="261" r:id="R3e89391e856d404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593fd3513d54d09" /><Relationship Type="http://schemas.openxmlformats.org/officeDocument/2006/relationships/slideMaster" Target="/ppt/slideMasters/slideMaster1.xml" Id="R9a38a03cc01e4e93" /><Relationship Type="http://schemas.openxmlformats.org/officeDocument/2006/relationships/notesMaster" Target="/ppt/notesMasters/notesMaster1.xml" Id="Ree810f89449f412a" /><Relationship Type="http://schemas.openxmlformats.org/officeDocument/2006/relationships/presProps" Target="/ppt/presProps.xml" Id="Rabd6faef6be3497a" /><Relationship Type="http://schemas.openxmlformats.org/officeDocument/2006/relationships/tableStyles" Target="/ppt/tableStyles.xml" Id="Rac51459d70c64970" /><Relationship Type="http://schemas.openxmlformats.org/officeDocument/2006/relationships/slide" Target="/ppt/slides/slide1.xml" Id="R3b45c8d45d774722" /><Relationship Type="http://schemas.openxmlformats.org/officeDocument/2006/relationships/slide" Target="/ppt/slides/slide2.xml" Id="R0a30f86681bf44e9" /><Relationship Type="http://schemas.openxmlformats.org/officeDocument/2006/relationships/slide" Target="/ppt/slides/slide3.xml" Id="Rfb9a7e4dcb904507" /><Relationship Type="http://schemas.openxmlformats.org/officeDocument/2006/relationships/slide" Target="/ppt/slides/slide4.xml" Id="Re577cc96efe94af2" /><Relationship Type="http://schemas.openxmlformats.org/officeDocument/2006/relationships/slide" Target="/ppt/slides/slide5.xml" Id="R40b7564d7fea4598" /><Relationship Type="http://schemas.openxmlformats.org/officeDocument/2006/relationships/slide" Target="/ppt/slides/slide6.xml" Id="R3e89391e856d404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a569e37f1fc4a4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7fa5ccc21c94edd" /><Relationship Type="http://schemas.openxmlformats.org/officeDocument/2006/relationships/notesMaster" Target="/ppt/notesMasters/notesMaster1.xml" Id="R762423318d1d46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0fa8d4e9b3d44215" /><Relationship Type="http://schemas.openxmlformats.org/officeDocument/2006/relationships/notesMaster" Target="/ppt/notesMasters/notesMaster1.xml" Id="R7cbf17f1b04c4576" /></Relationships>
</file>

<file path=ppt/notesSlides/_rels/notesSlide3.xml.rels>&#65279;<?xml version="1.0" encoding="utf-8"?><Relationships xmlns="http://schemas.openxmlformats.org/package/2006/relationships"><Relationship Type="http://schemas.openxmlformats.org/officeDocument/2006/relationships/slide" Target="/ppt/slides/slide3.xml" Id="R638e9798e91d4252" /><Relationship Type="http://schemas.openxmlformats.org/officeDocument/2006/relationships/notesMaster" Target="/ppt/notesMasters/notesMaster1.xml" Id="R533a5b558f73406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a3ab1ae37443dc" /><Relationship Type="http://schemas.openxmlformats.org/officeDocument/2006/relationships/notesMaster" Target="/ppt/notesMasters/notesMaster1.xml" Id="R347ac42826ac4267" /></Relationships>
</file>

<file path=ppt/notesSlides/_rels/notesSlide5.xml.rels>&#65279;<?xml version="1.0" encoding="utf-8"?><Relationships xmlns="http://schemas.openxmlformats.org/package/2006/relationships"><Relationship Type="http://schemas.openxmlformats.org/officeDocument/2006/relationships/slide" Target="/ppt/slides/slide5.xml" Id="R02f3f438c1d9485d" /><Relationship Type="http://schemas.openxmlformats.org/officeDocument/2006/relationships/notesMaster" Target="/ppt/notesMasters/notesMaster1.xml" Id="R731ad56ede3f4b38" /></Relationships>
</file>

<file path=ppt/notesSlides/_rels/notesSlide6.xml.rels>&#65279;<?xml version="1.0" encoding="utf-8"?><Relationships xmlns="http://schemas.openxmlformats.org/package/2006/relationships"><Relationship Type="http://schemas.openxmlformats.org/officeDocument/2006/relationships/slide" Target="/ppt/slides/slide6.xml" Id="R42a81a389f544fe4" /><Relationship Type="http://schemas.openxmlformats.org/officeDocument/2006/relationships/notesMaster" Target="/ppt/notesMasters/notesMaster1.xml" Id="R70abcf9c45d4424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TALK TRACK</a:t>
            </a:r>
          </a:p>
          <a:p xmlns:a="http://schemas.openxmlformats.org/drawingml/2006/main">
            <a:r>
              <a:t>The product covers the ETL engineering lifecycle: understanding an existing workload, interpreting a source-to-target mapping workbook, preparing or maintaining artifacts, creating tests, researching operational context, and diagnosing a run. It is a VS Code extension and a consumer agent workflow around the configuration-driven Databricks ETL Framework. The Framework executes sourcing, transformation, load/enrichment and writer stages; the extension coordinates engineering work around those artifacts. Normal consumers should not need the extension or Framework source checkout.</a:t>
            </a:r>
          </a:p>
          <a:p xmlns:a="http://schemas.openxmlformats.org/drawingml/2006/main">
            <a:r>
              <a:t/>
            </a:r>
          </a:p>
          <a:p xmlns:a="http://schemas.openxmlformats.org/drawingml/2006/main">
            <a:r>
              <a:t>Three substantial accomplishments deserve emphasis. First, native workbook parsing, cross-sheet evidence and typed source/target identities replace dependence on manually pasted spreadsheet fragments. Second, the packaged workflow has one public Orchestrator and five internal specialist roles, with managed assets and role-scoped tools. Third, source tests, package checks, a real-host harness and selected installed-consumer checks create an evidence chain beyond plausible generated text. The sidebar also exposes configuration and provider readiness.</a:t>
            </a:r>
          </a:p>
          <a:p xmlns:a="http://schemas.openxmlformats.org/drawingml/2006/main">
            <a:r>
              <a:t/>
            </a:r>
          </a:p>
          <a:p xmlns:a="http://schemas.openxmlformats.org/drawingml/2006/main">
            <a:r>
              <a:t>These are capability families, not a claim that every provider, writer strategy or complete model-led journey has passed acceptance. Runtime diagnosis is read-only. Publication and execution require the applicable provider and exact separate approval. The positive writer contract retained in references is path-backed Delta append; direct catalog.schema.table Unity Catalog output remains unsupported.</a:t>
            </a:r>
          </a:p>
          <a:p xmlns:a="http://schemas.openxmlformats.org/drawingml/2006/main">
            <a:r>
              <a:t/>
            </a:r>
          </a:p>
          <a:p xmlns:a="http://schemas.openxmlformats.org/drawingml/2006/main">
            <a:r>
              <a:t>HISTORY AND CURRENT SCOPE</a:t>
            </a:r>
          </a:p>
          <a:p xmlns:a="http://schemas.openxmlformats.org/drawingml/2006/main">
            <a:r>
              <a:t>Earlier .134 work restored tool contributions and readiness reporting; .135 bundled ExcelJS and introduced extracted-VSIX parser checks. Later work hardened roots, contracts, agent roles and public output. Latest status comes from the owner's later September 11 conversation reports, which supersede earlier same-day waiting states in the reference pack. Session B repaired nine source/test files, passed 18 new permanent tests and received a bounded ACCEPTED_WITH_LIMITATIONS review. Bootstrap: 21 passing/0 failing; customization: 62 passing/3 pre-existing failing; containment: 66 passing/0 failing. Its private installed 0.3.149 candidate passed 77/77 scoped workflow checks, with source-to-VSIX-to-installed identity reported verified. This did not replace the default installation. Session D separately verified one approved job replacement in a two-root workspace and unchanged env content, size and timestamps. These counts concern different candidates and units; never sum them. C migration design corrections are reported complete with limitations; migration and F-Q1 implementation were issued as the next task, with no returned implementation result in this deck's evidence. No product or Windows execution was performed to create this presentation.</a:t>
            </a:r>
          </a:p>
          <a:p xmlns:a="http://schemas.openxmlformats.org/drawingml/2006/main">
            <a:r>
              <a:t/>
            </a:r>
          </a:p>
          <a:p xmlns:a="http://schemas.openxmlformats.org/drawingml/2006/main">
            <a:r>
              <a:t>REFERENCES</a:t>
            </a:r>
          </a:p>
          <a:p xmlns:a="http://schemas.openxmlformats.org/drawingml/2006/main">
            <a:r>
              <a:t>/ETL Copilot Reference v2/02_PROJECT_AND_ARCHITECTURE.md</a:t>
            </a:r>
          </a:p>
          <a:p xmlns:a="http://schemas.openxmlformats.org/drawingml/2006/main">
            <a:r>
              <a:t>/ETL Copilot Reference v2/archive/handoff_2026-08-29/ETL_03_IMPLEMENTED_CAPABILITIES_AND_EVIDENCE.md</a:t>
            </a:r>
          </a:p>
          <a:p xmlns:a="http://schemas.openxmlformats.org/drawingml/2006/main">
            <a:r>
              <a:t>/ETL/ETL_Framework_Databricks_ETL_Copilot_Master_Handoff_2026-08-03.md (consolidated August 12; provider/tool sections 14–17)</a:t>
            </a:r>
          </a:p>
          <a:p xmlns:a="http://schemas.openxmlformats.org/drawingml/2006/main">
            <a:r>
              <a:t>/ETL Copilot Reference v2/01_CURRENT_STATE.json and 12_SESSION_CHECKPOINT_2026-09-11.md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WALK THROUGH THE DIAGRAM</a:t>
            </a:r>
          </a:p>
          <a:p xmlns:a="http://schemas.openxmlformats.org/drawingml/2006/main">
            <a:r>
              <a:t>Start with a user asking, for example, to explain an existing ETL job, prepare artifacts from an STTM, or diagnose a failed DEV run. The consumer workspace supplies the input and its local workflow guidance. Before normal use, @etl /workflow provisions or updates the selected profile's agents, prompts, instructions, skills and context. That command is an installer/lifecycle route, not a step that must rerun for every request. GitHub workflow here means consumer .github agent assets; it does not mean a GitHub Actions pipeline. The maintainer's development .github is a separate ownership boundary.</a:t>
            </a:r>
          </a:p>
          <a:p xmlns:a="http://schemas.openxmlformats.org/drawingml/2006/main">
            <a:r>
              <a:t/>
            </a:r>
          </a:p>
          <a:p xmlns:a="http://schemas.openxmlformats.org/drawingml/2006/main">
            <a:r>
              <a:t>The user selects ETL Orchestrator. Five internal, non-user-invocable specialists support it: ETL Implementer prepares authorized artifacts, ETL Verifier independently checks them, ETL Runtime Troubleshooter inspects ADF/Databricks/DBFS/SQL evidence, ETL Evidence Researcher retrieves Jira/Confluence references, and ETL Operator performs only the exact separately approved operational effect with minimal status follow-up. Not every request needs every specialist. Delegation and tool availability do not themselves authorize a write or run.</a:t>
            </a:r>
          </a:p>
          <a:p xmlns:a="http://schemas.openxmlformats.org/drawingml/2006/main">
            <a:r>
              <a:t/>
            </a:r>
          </a:p>
          <a:p xmlns:a="http://schemas.openxmlformats.org/drawingml/2006/main">
            <a:r>
              <a:t>The lower row is a provider ecosystem, not a serial pipeline. ETL tools interpret STTM, inspect jobs, explain configs, retrieve Framework rules, render and validate. ADF and La Pulga expose their own pipeline/Databricks functions; Confluence and Jira contribute supporting records. The historical catalog also includes an MSSQL provider for control-plane metadata. Which provider is available must be checked at runtime; missing connectivity does not prevent otherwise valid static analysis.</a:t>
            </a:r>
          </a:p>
          <a:p xmlns:a="http://schemas.openxmlformats.org/drawingml/2006/main">
            <a:r>
              <a:t/>
            </a:r>
          </a:p>
          <a:p xmlns:a="http://schemas.openxmlformats.org/drawingml/2006/main">
            <a:r>
              <a:t>Each invoked tool returns evidence to the appropriate role. The Verifier evaluates relevant outputs, and the Orchestrator combines specialist results into a user answer with findings, artifacts or preview, evidence links, unresolved decisions and the actual observed status. Current workspace/runtime evidence outranks conflicting historical Jira or Confluence material.</a:t>
            </a:r>
          </a:p>
          <a:p xmlns:a="http://schemas.openxmlformats.org/drawingml/2006/main">
            <a:r>
              <a:t/>
            </a:r>
          </a:p>
          <a:p xmlns:a="http://schemas.openxmlformats.org/drawingml/2006/main">
            <a:r>
              <a:t>TECHNICAL ACCURACY</a:t>
            </a:r>
          </a:p>
          <a:p xmlns:a="http://schemas.openxmlformats.org/drawingml/2006/main">
            <a:r>
              <a:t>The ETL implementation is documented as VS Code language-model tools, registered and invoked through vscode.lm. The references do not prove that every shown provider uses MCP transport. The tool layer therefore labels MCP only where configured. This is a logical architecture view, not evidence that every dynamic delegation or model-led route has been qualified.</a:t>
            </a:r>
          </a:p>
          <a:p xmlns:a="http://schemas.openxmlformats.org/drawingml/2006/main">
            <a:r>
              <a:t/>
            </a:r>
          </a:p>
          <a:p xmlns:a="http://schemas.openxmlformats.org/drawingml/2006/main">
            <a:r>
              <a:t>REFERENCES</a:t>
            </a:r>
          </a:p>
          <a:p xmlns:a="http://schemas.openxmlformats.org/drawingml/2006/main">
            <a:r>
              <a:t>/ETL Copilot Reference v2/archive/handoff_2026-08-24/ETL_08_Consumer_Agent_Architecture_and_Runtime_Tool_Contract_2026-08-27.md</a:t>
            </a:r>
          </a:p>
          <a:p xmlns:a="http://schemas.openxmlformats.org/drawingml/2006/main">
            <a:r>
              <a:t>/ETL Copilot Reference v2/archive/handoff_2026-08-29/ETL_02_WORKFLOW_AGENTS_AND_SAFETY_CONTRACT.md</a:t>
            </a:r>
          </a:p>
          <a:p xmlns:a="http://schemas.openxmlformats.org/drawingml/2006/main">
            <a:r>
              <a:t>/ETL/ETL_Framework_Databricks_ETL_Copilot_Master_Handoff_2026-08-03.md (consolidated August 12; provider/tool sections 14–17)</a:t>
            </a:r>
          </a:p>
          <a:p xmlns:a="http://schemas.openxmlformats.org/drawingml/2006/main">
            <a:r>
              <a:t>/ETL Copilot Reference v2/02_PROJECT_AND_ARCHITECTURE.md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EXPLAIN THE INTERNAL PROCESS</a:t>
            </a:r>
          </a:p>
          <a:p xmlns:a="http://schemas.openxmlformats.org/drawingml/2006/main">
            <a:r>
              <a:t>The agent chooses an appropriate tool and supplies arguments; the tool handler is executable extension code. First it resolves the explicit consumer root, validates the input reference and checks real capabilities. It does not silently substitute an extension sample workbook, the current working directory, a stale session path or a sibling root. The capabilities tool distinguishes registered tools from runtime readiness and optional provider availability.</a:t>
            </a:r>
          </a:p>
          <a:p xmlns:a="http://schemas.openxmlformats.org/drawingml/2006/main">
            <a:r>
              <a:t/>
            </a:r>
          </a:p>
          <a:p xmlns:a="http://schemas.openxmlformats.org/drawingml/2006/main">
            <a:r>
              <a:t>For STTM work, native Excel parsing constructs a cross-sheet model: authored source/target identities, mapping IDs, schema references, business/transformation rules, joins, exclusions, conflicts and provenance. Existing job inspection resolves configuration and nested include relationships. Structural parse success is distinct from semantic readiness; conflicting business rules remain visible. The tool reports diagnostics; the Orchestrator asks the user only for genuinely unresolved decisions.</a:t>
            </a:r>
          </a:p>
          <a:p xmlns:a="http://schemas.openxmlformats.org/drawingml/2006/main">
            <a:r>
              <a:t/>
            </a:r>
          </a:p>
          <a:p xmlns:a="http://schemas.openxmlformats.org/drawingml/2006/main">
            <a:r>
              <a:t>For an artifact request, the system classifies update, create, scaffold, ask or block from the actual repository evidence. It reuses a compatible existing environment when appropriate and produces candidates against the installed trusted Framework contract. The canonical job envelope is stage-keyed HOCON with modules as an object and options.module/options.method. Consumer-editable guidance cannot redefine this machine authority. LLM-assisted choices remain candidates; deterministic parsing, validators and runtime controls check them. Not every read-only lookup invokes all generation stages.</a:t>
            </a:r>
          </a:p>
          <a:p xmlns:a="http://schemas.openxmlformats.org/drawingml/2006/main">
            <a:r>
              <a:t/>
            </a:r>
          </a:p>
          <a:p xmlns:a="http://schemas.openxmlformats.org/drawingml/2006/main">
            <a:r>
              <a:t>A read-only handler returns evidence immediately. A write-capable request must follow the real preview and approval path for the exact candidate; a separate data-plane action additionally needs the provider capability and approval. Other provider tools run their own handlers rather than ETL's parser.</a:t>
            </a:r>
          </a:p>
          <a:p xmlns:a="http://schemas.openxmlformats.org/drawingml/2006/main">
            <a:r>
              <a:t/>
            </a:r>
          </a:p>
          <a:p xmlns:a="http://schemas.openxmlformats.org/drawingml/2006/main">
            <a:r>
              <a:t>The read-only public adapter returns a LanguageModelTextPart plus a LanguageModelDataPart with application/json and encoded bytes. Human Markdown may display entity.field while JSON retains db.entity.field; parity is about mapping IDs, order, counts and aligned diagnostics, not identical display text. The historical action-tool contract is separate and must not be presented as universally dual-channel. The model's interpretation occurs after the result crosses the adapter. A programmatic invokeTool test proves the returned envelope; it does not prove what a model subsequently reasons or says.</a:t>
            </a:r>
          </a:p>
          <a:p xmlns:a="http://schemas.openxmlformats.org/drawingml/2006/main">
            <a:r>
              <a:t/>
            </a:r>
          </a:p>
          <a:p xmlns:a="http://schemas.openxmlformats.org/drawingml/2006/main">
            <a:r>
              <a:t>The visible result should distinguish measured facts, generated candidates, completed operations and unresolved questions.</a:t>
            </a:r>
          </a:p>
          <a:p xmlns:a="http://schemas.openxmlformats.org/drawingml/2006/main">
            <a:r>
              <a:t/>
            </a:r>
          </a:p>
          <a:p xmlns:a="http://schemas.openxmlformats.org/drawingml/2006/main">
            <a:r>
              <a:t>REFERENCES</a:t>
            </a:r>
          </a:p>
          <a:p xmlns:a="http://schemas.openxmlformats.org/drawingml/2006/main">
            <a:r>
              <a:t>/ETL Copilot Reference v2/02_PROJECT_AND_ARCHITECTURE.md</a:t>
            </a:r>
          </a:p>
          <a:p xmlns:a="http://schemas.openxmlformats.org/drawingml/2006/main">
            <a:r>
              <a:t>/ETL/ETL_Framework_Databricks_ETL_Copilot_Master_Handoff_2026-08-03.md (consolidated August 12; provider/tool sections 14–17)</a:t>
            </a:r>
          </a:p>
          <a:p xmlns:a="http://schemas.openxmlformats.org/drawingml/2006/main">
            <a:r>
              <a:t>/ETL Copilot Reference v2/archive/ETL_STATE_REV3.md; ETL_DELTA_2026-09-03_PHASES_T_U_V_W.md; handoff_2026-08-29/ETL_05_CHRONOLOGY_DECISIONS_RISKS_AND_GLOSSARY.md (especially REV3 sections 1–7 and 19)</a:t>
            </a:r>
          </a:p>
          <a:p xmlns:a="http://schemas.openxmlformats.org/drawingml/2006/main">
            <a:r>
              <a:t>/ETL Copilot Reference v2/references/ETL_QUALIFICATION_GLOSSARY.md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WHY THE GATES MATTER</a:t>
            </a:r>
          </a:p>
          <a:p xmlns:a="http://schemas.openxmlformats.org/drawingml/2006/main">
            <a:r>
              <a:t>The engineering history contains two naming systems. Do not merge them with the recent September 11 sessions B, C and D. Product phases A–G describe major repair/delivery boundaries; Phase H refers to evaluation baselines. Separately, the qualification glossary uses B, C and M for blocker, coupled and major findings in the measurement and review chain. This slide keeps those namespaces visible. The user's compact “mf” label has no standalone MF definition in the retrieved reference set; the documented M and F families are represented separately.</a:t>
            </a:r>
          </a:p>
          <a:p xmlns:a="http://schemas.openxmlformats.org/drawingml/2006/main">
            <a:r>
              <a:t/>
            </a:r>
          </a:p>
          <a:p xmlns:a="http://schemas.openxmlformats.org/drawingml/2006/main">
            <a:r>
              <a:t>PRODUCT PHASES</a:t>
            </a:r>
          </a:p>
          <a:p xmlns:a="http://schemas.openxmlformats.org/drawingml/2006/main">
            <a:r>
              <a:t>A separates stale/pre-existing failures from new ones. H tracks evaluation-input identities and canonical generation so stale results cannot silently pass. B removes implicit first-root selection and routes writing through trusted approval. C extends the same contract to additional live routes such as Explain save, Artifact Reuse and Repo Context. D validates real filesystem containment, including symlinks and junctions, with negative and mutation probes. F establishes the canonical Framework job envelope and installed contract/fallback behavior. E checks package contents and exclusions; G checks a fresh package's version, manifest, payload identity and extracted runtime behavior. The value is consistency from source through the user-facing product, not simply more steps.</a:t>
            </a:r>
          </a:p>
          <a:p xmlns:a="http://schemas.openxmlformats.org/drawingml/2006/main">
            <a:r>
              <a:t/>
            </a:r>
          </a:p>
          <a:p xmlns:a="http://schemas.openxmlformats.org/drawingml/2006/main">
            <a:r>
              <a:t>QUALIFICATION FAMILIES</a:t>
            </a:r>
          </a:p>
          <a:p xmlns:a="http://schemas.openxmlformats.org/drawingml/2006/main">
            <a:r>
              <a:t>B1 concerns mapping presentation/product correctness; B2 concerns truthful observations; B3 owns canonical PASS/FAIL/BLOCKED, classification, distinct-cause retention and exit consistency; B4 concerns the test-mode flag. C1 covers parser observation and restoration; C2 independently checks Markdown and JSON projections. M1 covers Host PID/liveness, M2 safe full/reduced evidence persistence, M3 freshness/authorization ordering and completed-stage tracking, M4 reviewed source-to-executed-JavaScript provenance, and M5 actual API tool/command registration. These checks prevent a harness or infrastructure defect from being reported as a product result.</a:t>
            </a:r>
          </a:p>
          <a:p xmlns:a="http://schemas.openxmlformats.org/drawingml/2006/main">
            <a:r>
              <a:t/>
            </a:r>
          </a:p>
          <a:p xmlns:a="http://schemas.openxmlformats.org/drawingml/2006/main">
            <a:r>
              <a:t>STATUS AND PROPORTIONALITY</a:t>
            </a:r>
          </a:p>
          <a:p xmlns:a="http://schemas.openxmlformats.org/drawingml/2006/main">
            <a:r>
              <a:t>Some historical phase work has source/package evidence; that does not grant today's whole-product acceptance. M2/M3 have retained static acceptance while targeted fault-path runtime evidence remains a distinct question. Later R3/R4 review and successor disposition must be reconciled before claiming complete outcome-policy qualification. Apply the newer agile contract: reuse matching evidence, run affected regressions and review concrete boundary changes; do not mechanically rerun every historical gate.</a:t>
            </a:r>
          </a:p>
          <a:p xmlns:a="http://schemas.openxmlformats.org/drawingml/2006/main">
            <a:r>
              <a:t/>
            </a:r>
          </a:p>
          <a:p xmlns:a="http://schemas.openxmlformats.org/drawingml/2006/main">
            <a:r>
              <a:t>REFERENCES</a:t>
            </a:r>
          </a:p>
          <a:p xmlns:a="http://schemas.openxmlformats.org/drawingml/2006/main">
            <a:r>
              <a:t>/ETL Copilot Reference v2/archive/handoff_2026-08-24/ETL_04_Implementation_Phase_Status_2026-08-24.md</a:t>
            </a:r>
          </a:p>
          <a:p xmlns:a="http://schemas.openxmlformats.org/drawingml/2006/main">
            <a:r>
              <a:t>/ETL Copilot Reference v2/references/ETL_QUALIFICATION_GLOSSARY.md</a:t>
            </a:r>
          </a:p>
          <a:p xmlns:a="http://schemas.openxmlformats.org/drawingml/2006/main">
            <a:r>
              <a:t>/ETL Copilot Reference v2/archive/handoff_2026-08-29/ETL_03_IMPLEMENTED_CAPABILITIES_AND_EVIDENCE.md</a:t>
            </a:r>
          </a:p>
          <a:p xmlns:a="http://schemas.openxmlformats.org/drawingml/2006/main">
            <a:r>
              <a:t>/ETL Copilot Reference v2/09_AGILE_REPAIR_AND_VERIFICATION_CONTRACT.md (v1.1)</a:t>
            </a:r>
          </a:p>
          <a:p xmlns:a="http://schemas.openxmlformats.org/drawingml/2006/main">
            <a:r>
              <a:t>/ETL Copilot Reference v2/01_CURRENT_STATE.json and 12_SESSION_CHECKPOINT_2026-09-11.md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HOW THE TESTING IS ORGANIZED</a:t>
            </a:r>
          </a:p>
          <a:p xmlns:a="http://schemas.openxmlformats.org/drawingml/2006/main">
            <a:r>
              <a:t>The team has a repository test suite plus a qualification runner and reusable task helpers; it is not one monolithic end-to-end test. Unit tests exercise parsers, policy and validation against controlled fixtures without a live LLM. Adapter tests verify the actual public contract using faithful doubles: data buffers, media type and decoding rather than a stub-only property. Real Extension Host tests cross vscode.lm.invokeTool and observe the registered production handler. Installed-consumer checks then exercise the precise VSIX and normal commands in an isolated temporary workspace. F5/model-led scenarios are a distinct layer for UI, agent selection and dynamic delegation. Listing the layer does not claim that all scenarios are complete.</a:t>
            </a:r>
          </a:p>
          <a:p xmlns:a="http://schemas.openxmlformats.org/drawingml/2006/main">
            <a:r>
              <a:t/>
            </a:r>
          </a:p>
          <a:p xmlns:a="http://schemas.openxmlformats.org/drawingml/2006/main">
            <a:r>
              <a:t>THE HARNESS</a:t>
            </a:r>
          </a:p>
          <a:p xmlns:a="http://schemas.openxmlformats.org/drawingml/2006/main">
            <a:r>
              <a:t>The parent runner is src/test/runTest.ts, compiled to out/test/runTest.js (or the task's separate output root). It uses @vscode/test-electron. The focused path passes ETL and bundled Copilot as two ordered development-extension paths while retaining the production Copilot dependency. In opted-in Test mode it registers only the production STTM handler and returns before sidebar/chat/model/action/authentication initialization. That deliberate scope makes a focused test feasible, but it is not normal full activation.</a:t>
            </a:r>
          </a:p>
          <a:p xmlns:a="http://schemas.openxmlformats.org/drawingml/2006/main">
            <a:r>
              <a:t/>
            </a:r>
          </a:p>
          <a:p xmlns:a="http://schemas.openxmlformats.org/drawingml/2006/main">
            <a:r>
              <a:t>A pinned synthetic workbook and an explicit isolated root make the run repeatable. The focused suite invokes etl_interpret_sttm, records raw part order/types, MIME, encoded bytes, UTF-8 and JSON decoding, mappings and diagnostics, plus relevant parser observations. Expected output is derived independently from the fixture/contract, not copied from the product result. The parent checks relevant identity, counts and post-exit evidence. Observation capture, pure outcome policy and persistence are distinct responsibilities. Missing or compromised evidence is BLOCKED; a trustworthy product assertion mismatch without infrastructure failure is FAIL; PASS requires the authorized checks to complete. Infrastructure takes precedence while distinct product causes remain retained.</a:t>
            </a:r>
          </a:p>
          <a:p xmlns:a="http://schemas.openxmlformats.org/drawingml/2006/main">
            <a:r>
              <a:t/>
            </a:r>
          </a:p>
          <a:p xmlns:a="http://schemas.openxmlformats.org/drawingml/2006/main">
            <a:r>
              <a:t>WHY IT EVOLVED</a:t>
            </a:r>
          </a:p>
          <a:p xmlns:a="http://schemas.openxmlformats.org/drawingml/2006/main">
            <a:r>
              <a:t>An early double hard-coded application/json and ignored the supplied MIME, so it missed the real adapter problem. Later real-host work exposed a stale source oracle and a target-entity omission. This led to explicit channel contracts, lossless evidence, scoped loading, provenance checks and stronger outcome handling. Reviews also found harness defects, which are tracked separately from product repairs. Current references retain limits on later R3/R4 outcome-policy acceptance and M2/M3 fault-path testing; do not label the entire harness certified.</a:t>
            </a:r>
          </a:p>
          <a:p xmlns:a="http://schemas.openxmlformats.org/drawingml/2006/main">
            <a:r>
              <a:t/>
            </a:r>
          </a:p>
          <a:p xmlns:a="http://schemas.openxmlformats.org/drawingml/2006/main">
            <a:r>
              <a:t>WORKING PRACTICE</a:t>
            </a:r>
          </a:p>
          <a:p xmlns:a="http://schemas.openxmlformats.org/drawingml/2006/main">
            <a:r>
              <a:t>Use unique disposable consumer fixtures, separate test outputs and reusable caller/driver/verifier helpers. Files such as b1-identities.js or qe-final-preservation.js are task helpers, not automatically permanent product tests. Promote relevant regressions into the repository. Reuse prior evidence only when affected source, tests, fixtures, settings and dependency identities match. A report failure is not a reason to repeat a successful write. Independent review evaluates the evidence without self-certification. The broader exact-SHA CI/immutable-release model is an adopted direction, not proof of a fully deployed automated pipeline.</a:t>
            </a:r>
          </a:p>
          <a:p xmlns:a="http://schemas.openxmlformats.org/drawingml/2006/main">
            <a:r>
              <a:t/>
            </a:r>
          </a:p>
          <a:p xmlns:a="http://schemas.openxmlformats.org/drawingml/2006/main">
            <a:r>
              <a:t>Latest status comes from the owner's later September 11 conversation reports, which supersede earlier same-day waiting states in the reference pack. Session B repaired nine source/test files, passed 18 new permanent tests and received a bounded ACCEPTED_WITH_LIMITATIONS review. Bootstrap: 21 passing/0 failing; customization: 62 passing/3 pre-existing failing; containment: 66 passing/0 failing. Its private installed 0.3.149 candidate passed 77/77 scoped workflow checks, with source-to-VSIX-to-installed identity reported verified. This did not replace the default installation. Session D separately verified one approved job replacement in a two-root workspace and unchanged env content, size and timestamps. These counts concern different candidates and units; never sum them. C migration design corrections are reported complete with limitations; migration and F-Q1 implementation were issued as the next task, with no returned implementation result in this deck's evidence. No product or Windows execution was performed to create this presentation.</a:t>
            </a:r>
          </a:p>
          <a:p xmlns:a="http://schemas.openxmlformats.org/drawingml/2006/main">
            <a:r>
              <a:t/>
            </a:r>
          </a:p>
          <a:p xmlns:a="http://schemas.openxmlformats.org/drawingml/2006/main">
            <a:r>
              <a:t>REFERENCES</a:t>
            </a:r>
          </a:p>
          <a:p xmlns:a="http://schemas.openxmlformats.org/drawingml/2006/main">
            <a:r>
              <a:t>/ETL Copilot Reference v2/archive/handoff_2026-08-29/ETL_09_ENGINEERING_PROCESS_TESTING_AND_RELEASE_MODEL.md</a:t>
            </a:r>
          </a:p>
          <a:p xmlns:a="http://schemas.openxmlformats.org/drawingml/2006/main">
            <a:r>
              <a:t>/ETL Copilot Reference v2/references/ETL_QUALIFICATION_GLOSSARY.md</a:t>
            </a:r>
          </a:p>
          <a:p xmlns:a="http://schemas.openxmlformats.org/drawingml/2006/main">
            <a:r>
              <a:t>/ETL Copilot Reference v2/archive/ETL_STATE_REV3.md; ETL_DELTA_2026-09-03_PHASES_T_U_V_W.md; handoff_2026-08-29/ETL_05_CHRONOLOGY_DECISIONS_RISKS_AND_GLOSSARY.md</a:t>
            </a:r>
          </a:p>
          <a:p xmlns:a="http://schemas.openxmlformats.org/drawingml/2006/main">
            <a:r>
              <a:t>/ETL Copilot Reference v2/09_AGILE_REPAIR_AND_VERIFICATION_CONTRACT.md (v1.1)</a:t>
            </a:r>
          </a:p>
          <a:p xmlns:a="http://schemas.openxmlformats.org/drawingml/2006/main">
            <a:r>
              <a:t>/ETL Copilot Reference v2/01_CURRENT_STATE.json and 12_SESSION_CHECKPOINT_2026-09-11.md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COMPARISON TALK TRACK</a:t>
            </a:r>
          </a:p>
          <a:p xmlns:a="http://schemas.openxmlformats.org/drawingml/2006/main">
            <a:r>
              <a:t>The distinction is architectural. Forge organizes knowledge, methods, skills and lessons for an external coding-agent environment. ETL Copilot supplies an installed VS Code product, native domain tools, machine contracts, managed consumer assets and runtime controls. Both can support engineering reasoning, but their delivery and enforcement boundaries differ.</a:t>
            </a:r>
          </a:p>
          <a:p xmlns:a="http://schemas.openxmlformats.org/drawingml/2006/main">
            <a:r>
              <a:t/>
            </a:r>
          </a:p>
          <a:p xmlns:a="http://schemas.openxmlformats.org/drawingml/2006/main">
            <a:r>
              <a:t>Forge's strengths are useful: existing-job reverse engineering into requirements, broad Framework and PySpark knowledge, clean-room separation of behavior requirements from implementation, lessons at decision points, and assumptions or open-question records. The inspected Forge material contains real helper scripts, so describing it as only prompts or as having no tests would be inaccurate.</a:t>
            </a:r>
          </a:p>
          <a:p xmlns:a="http://schemas.openxmlformats.org/drawingml/2006/main">
            <a:r>
              <a:t/>
            </a:r>
          </a:p>
          <a:p xmlns:a="http://schemas.openxmlformats.org/drawingml/2006/main">
            <a:r>
              <a:t>ETL Copilot's major difference is the executable path from selected consumer context through native STTM and config tooling to checked artifacts and separately approved operations, supported by a package and qualification chain. Its configuration lineage is not proof of Python import-graph tracing; its containment checks are not proof of clean-room contamination analysis. Those remain distinct potential additions.</a:t>
            </a:r>
          </a:p>
          <a:p xmlns:a="http://schemas.openxmlformats.org/drawingml/2006/main">
            <a:r>
              <a:t/>
            </a:r>
          </a:p>
          <a:p xmlns:a="http://schemas.openxmlformats.org/drawingml/2006/main">
            <a:r>
              <a:t>The practical combination is to adapt selected Forge knowledge into product-managed skills and decision guidance, preserving provenance and validating it against trusted Framework contracts. Requirements/impact documents, Python dependency analysis and per-job assumptions ledgers are proposed opportunities rather than completed integration. Keep runtime authority in product code.</a:t>
            </a:r>
          </a:p>
          <a:p xmlns:a="http://schemas.openxmlformats.org/drawingml/2006/main">
            <a:r>
              <a:t/>
            </a:r>
          </a:p>
          <a:p xmlns:a="http://schemas.openxmlformats.org/drawingml/2006/main">
            <a:r>
              <a:t>EVIDENCE LIMITS</a:t>
            </a:r>
          </a:p>
          <a:p xmlns:a="http://schemas.openxmlformats.org/drawingml/2006/main">
            <a:r>
              <a:t>Forge evidence is the September 1 chat audit and Follow-up Verification Addendum, not a fresh clone. Reviewed source images: IMG_24113FB3-7F13-48BA-805D-6AAB8504AF84.jpeg; IMG_CB51D107-843D-46C4-8CE7-DA54B26343A0.jpeg; IMG_D9609FB3-E41D-4B4B-8751-F7A4683F25DB.jpeg; IMG_69BBDB03-0844-4E4D-A883-12D3271E8103.jpeg; IMG_F5BB46E7-387B-42C0-8C21-64AFE8C7558F.jpeg. The follow-up corrects broader initial audit wording: 25 skills, 58 lesson files plus two catalogs, eight declared agent files and four instruction paths were present; 92 PySpark rule IDs span 14 topics. Python HOCON/structural checkers and Pi-session cost extraction exist, but checker execution and a complete runtime pipeline were not evidenced in that clone. External compound-engineering/APM dependencies may be intentionally external. Their absence from a clone is not proof that an installed Forge environment is defective. Equivalent ETL-style enforced write controls were not found in the audited scope; this is not a universal claim about all Forge deployments.</a:t>
            </a:r>
          </a:p>
          <a:p xmlns:a="http://schemas.openxmlformats.org/drawingml/2006/main">
            <a:r>
              <a:t/>
            </a:r>
          </a:p>
          <a:p xmlns:a="http://schemas.openxmlformats.org/drawingml/2006/main">
            <a:r>
              <a:t>Latest status comes from the owner's later September 11 conversation reports, which supersede earlier same-day waiting states in the reference pack. Session B repaired nine source/test files, passed 18 new permanent tests and received a bounded ACCEPTED_WITH_LIMITATIONS review. Bootstrap: 21 passing/0 failing; customization: 62 passing/3 pre-existing failing; containment: 66 passing/0 failing. Its private installed 0.3.149 candidate passed 77/77 scoped workflow checks, with source-to-VSIX-to-installed identity reported verified. This did not replace the default installation. Session D separately verified one approved job replacement in a two-root workspace and unchanged env content, size and timestamps. These counts concern different candidates and units; never sum them. C migration design corrections are reported complete with limitations; migration and F-Q1 implementation were issued as the next task, with no returned implementation result in this deck's evidence. No product or Windows execution was performed to create this presentation.</a:t>
            </a:r>
          </a:p>
          <a:p xmlns:a="http://schemas.openxmlformats.org/drawingml/2006/main">
            <a:r>
              <a:t/>
            </a:r>
          </a:p>
          <a:p xmlns:a="http://schemas.openxmlformats.org/drawingml/2006/main">
            <a:r>
              <a:t>REFERENCES</a:t>
            </a:r>
          </a:p>
          <a:p xmlns:a="http://schemas.openxmlformats.org/drawingml/2006/main">
            <a:r>
              <a:t>Prior Forge chat audit and Follow-up Verification Addendum (September 1).</a:t>
            </a:r>
          </a:p>
          <a:p xmlns:a="http://schemas.openxmlformats.org/drawingml/2006/main">
            <a:r>
              <a:t>/ETL Copilot Reference v2/02_PROJECT_AND_ARCHITECTURE.md</a:t>
            </a:r>
          </a:p>
          <a:p xmlns:a="http://schemas.openxmlformats.org/drawingml/2006/main">
            <a:r>
              <a:t>/ETL Copilot Reference v2/archive/handoff_2026-08-24/ETL_08_Consumer_Agent_Architecture_and_Runtime_Tool_Contract_2026-08-27.md</a:t>
            </a:r>
          </a:p>
          <a:p xmlns:a="http://schemas.openxmlformats.org/drawingml/2006/main">
            <a:r>
              <a:t>/ETL Copilot Reference v2/archive/handoff_2026-08-29/ETL_03_IMPLEMENTED_CAPABILITIES_AND_EVIDENCE.md</a:t>
            </a:r>
          </a:p>
          <a:p xmlns:a="http://schemas.openxmlformats.org/drawingml/2006/main">
            <a:r>
              <a:t>/ETL Copilot Reference v2/09_AGILE_REPAIR_AND_VERIFICATION_CONTRACT.md (v1.1)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f90fe17133046e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f820bb751514409" /><Relationship Type="http://schemas.openxmlformats.org/officeDocument/2006/relationships/slideLayout" Target="/ppt/slideLayouts/slideLayout1.xml" Id="R3116ede5d4d44cf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116ede5d4d44cf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fd98b309f8d46fb" /><Relationship Type="http://schemas.openxmlformats.org/officeDocument/2006/relationships/notesSlide" Target="/ppt/notesSlides/notesSlide1.xml" Id="Rff1a680f8bbe464b"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976f8d8bd2e441b" /><Relationship Type="http://schemas.openxmlformats.org/officeDocument/2006/relationships/notesSlide" Target="/ppt/notesSlides/notesSlide2.xml" Id="Reb18e8299e4a4a0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0f61655f7944e0b" /><Relationship Type="http://schemas.openxmlformats.org/officeDocument/2006/relationships/notesSlide" Target="/ppt/notesSlides/notesSlide3.xml" Id="R1707bfa6e0bf4ed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e9d8d2b94ad04040" /><Relationship Type="http://schemas.openxmlformats.org/officeDocument/2006/relationships/notesSlide" Target="/ppt/notesSlides/notesSlide4.xml" Id="Ref756e2d6b4c4f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edc7beb3edd47ce" /><Relationship Type="http://schemas.openxmlformats.org/officeDocument/2006/relationships/notesSlide" Target="/ppt/notesSlides/notesSlide5.xml" Id="R5a99521faf764653"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c8bd196f60d4490" /><Relationship Type="http://schemas.openxmlformats.org/officeDocument/2006/relationships/notesSlide" Target="/ppt/notesSlides/notesSlide6.xml" Id="Rbd380205e4394f3b" /></Relationships>
</file>

<file path=ppt/slides/slide1.xml><?xml version="1.0" encoding="utf-8"?>
<p:sld xmlns:p="http://schemas.openxmlformats.org/presentationml/2006/main">
  <p:cSld>
    <p:bg>
      <p:bgPr>
        <a:solidFill xmlns:a="http://schemas.openxmlformats.org/drawingml/2006/main">
          <a:srgbClr val="173F36"/>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CC98F97-A4E8-4E9B-BB9A-BBCADA73932B}"/>
              </a:ext>
            </a:extLst>
          </p:cNvPr>
          <p:cNvSpPr>
            <a:spLocks xmlns:a="http://schemas.openxmlformats.org/drawingml/2006/main" noGrp="1"/>
          </p:cNvSpPr>
          <p:nvPr/>
        </p:nvSpPr>
        <p:spPr>
          <a:xfrm xmlns:a="http://schemas.openxmlformats.org/drawingml/2006/main">
            <a:off x="609600" y="438150"/>
            <a:ext cx="10858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575" b="1">
                <a:solidFill>
                  <a:srgbClr val="FFFFFF"/>
                </a:solidFill>
                <a:latin typeface="Aptos"/>
                <a:ea typeface="Aptos"/>
                <a:cs typeface="Aptos"/>
              </a:defRPr>
            </a:pPr>
            <a:r>
              <a:rPr sz="4575" b="1">
                <a:solidFill>
                  <a:srgbClr val="FFFFFF"/>
                </a:solidFill>
                <a:latin typeface="Aptos"/>
                <a:ea typeface="Aptos"/>
                <a:cs typeface="Aptos"/>
              </a:rPr>
              <a:t>ETL engineering, from request</a:t>
            </a:r>
          </a:p>
          <a:p xmlns:a="http://schemas.openxmlformats.org/drawingml/2006/main">
            <a:pPr algn="l">
              <a:defRPr sz="4575" b="1">
                <a:solidFill>
                  <a:srgbClr val="FFFFFF"/>
                </a:solidFill>
                <a:latin typeface="Aptos"/>
                <a:ea typeface="Aptos"/>
                <a:cs typeface="Aptos"/>
              </a:defRPr>
            </a:pPr>
            <a:r>
              <a:rPr sz="4575" b="1">
                <a:solidFill>
                  <a:srgbClr val="FFFFFF"/>
                </a:solidFill>
                <a:latin typeface="Aptos"/>
                <a:ea typeface="Aptos"/>
                <a:cs typeface="Aptos"/>
              </a:rPr>
              <a:t>to verified outcome</a:t>
            </a:r>
          </a:p>
        </p:txBody>
      </p:sp>
      <p:sp>
        <p:nvSpPr>
          <p:cNvPr id="2" name="">
            <a:extLst xmlns:a="http://schemas.openxmlformats.org/drawingml/2006/main">
              <a:ext uri="{FF2B5EF4-FFF2-40B4-BE49-F238E27FC236}">
                <a16:creationId xmlns:a16="http://schemas.microsoft.com/office/drawing/2014/main" id="{A6F7D370-ACA8-4BE3-A6D7-DA2BB239349E}"/>
              </a:ext>
            </a:extLst>
          </p:cNvPr>
          <p:cNvSpPr>
            <a:spLocks xmlns:a="http://schemas.openxmlformats.org/drawingml/2006/main" noGrp="1"/>
          </p:cNvSpPr>
          <p:nvPr/>
        </p:nvSpPr>
        <p:spPr>
          <a:xfrm xmlns:a="http://schemas.openxmlformats.org/drawingml/2006/main">
            <a:off x="647700" y="1943100"/>
            <a:ext cx="10668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C7EC83"/>
                </a:solidFill>
                <a:latin typeface="Aptos"/>
                <a:ea typeface="Aptos"/>
                <a:cs typeface="Aptos"/>
              </a:defRPr>
            </a:pPr>
            <a:r>
              <a:rPr sz="1950" b="0">
                <a:solidFill>
                  <a:srgbClr val="C7EC83"/>
                </a:solidFill>
                <a:latin typeface="Aptos"/>
                <a:ea typeface="Aptos"/>
                <a:cs typeface="Aptos"/>
              </a:rPr>
              <a:t>Databricks ETL Copilot  /  VS Code + GitHub Copilot</a:t>
            </a:r>
          </a:p>
        </p:txBody>
      </p:sp>
      <p:sp>
        <p:nvSpPr>
          <p:cNvPr id="3" name="">
            <a:extLst xmlns:a="http://schemas.openxmlformats.org/drawingml/2006/main">
              <a:ext uri="{FF2B5EF4-FFF2-40B4-BE49-F238E27FC236}">
                <a16:creationId xmlns:a16="http://schemas.microsoft.com/office/drawing/2014/main" id="{C9E89C1F-C72C-4B2B-8623-ADD753DACA8C}"/>
              </a:ext>
            </a:extLst>
          </p:cNvPr>
          <p:cNvSpPr>
            <a:spLocks xmlns:a="http://schemas.openxmlformats.org/drawingml/2006/main" noGrp="1"/>
          </p:cNvSpPr>
          <p:nvPr/>
        </p:nvSpPr>
        <p:spPr>
          <a:xfrm xmlns:a="http://schemas.openxmlformats.org/drawingml/2006/main">
            <a:off x="647700" y="2771775"/>
            <a:ext cx="3381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7EC83"/>
                </a:solidFill>
                <a:latin typeface="Aptos"/>
                <a:ea typeface="Aptos"/>
                <a:cs typeface="Aptos"/>
              </a:defRPr>
            </a:pPr>
            <a:r>
              <a:rPr sz="2100" b="1">
                <a:solidFill>
                  <a:srgbClr val="C7EC83"/>
                </a:solidFill>
                <a:latin typeface="Aptos"/>
                <a:ea typeface="Aptos"/>
                <a:cs typeface="Aptos"/>
              </a:rPr>
              <a:t>Understand &amp; research</a:t>
            </a:r>
          </a:p>
        </p:txBody>
      </p:sp>
      <p:sp>
        <p:nvSpPr>
          <p:cNvPr id="4" name="">
            <a:extLst xmlns:a="http://schemas.openxmlformats.org/drawingml/2006/main">
              <a:ext uri="{FF2B5EF4-FFF2-40B4-BE49-F238E27FC236}">
                <a16:creationId xmlns:a16="http://schemas.microsoft.com/office/drawing/2014/main" id="{DCDE1162-D9B3-410B-8E37-0F4460A8D8B2}"/>
              </a:ext>
            </a:extLst>
          </p:cNvPr>
          <p:cNvSpPr>
            <a:spLocks xmlns:a="http://schemas.openxmlformats.org/drawingml/2006/main" noGrp="1"/>
          </p:cNvSpPr>
          <p:nvPr/>
        </p:nvSpPr>
        <p:spPr>
          <a:xfrm xmlns:a="http://schemas.openxmlformats.org/drawingml/2006/main">
            <a:off x="647700" y="3333750"/>
            <a:ext cx="3429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FFFFF"/>
                </a:solidFill>
                <a:latin typeface="Aptos"/>
                <a:ea typeface="Aptos"/>
                <a:cs typeface="Aptos"/>
              </a:defRPr>
            </a:pPr>
            <a:r>
              <a:rPr sz="1800" b="0">
                <a:solidFill>
                  <a:srgbClr val="FFFFFF"/>
                </a:solidFill>
                <a:latin typeface="Aptos"/>
                <a:ea typeface="Aptos"/>
                <a:cs typeface="Aptos"/>
              </a:rPr>
              <a:t>Interpret STTM and existing jobs</a:t>
            </a:r>
          </a:p>
          <a:p xmlns:a="http://schemas.openxmlformats.org/drawingml/2006/main">
            <a:pPr algn="l">
              <a:defRPr sz="1800" b="0">
                <a:solidFill>
                  <a:srgbClr val="FFFFFF"/>
                </a:solidFill>
                <a:latin typeface="Aptos"/>
                <a:ea typeface="Aptos"/>
                <a:cs typeface="Aptos"/>
              </a:defRPr>
            </a:pPr>
            <a:r>
              <a:rPr sz="1800" b="0">
                <a:solidFill>
                  <a:srgbClr val="FFFFFF"/>
                </a:solidFill>
                <a:latin typeface="Aptos"/>
                <a:ea typeface="Aptos"/>
                <a:cs typeface="Aptos"/>
              </a:rPr>
              <a:t>Explain configs and dependencies</a:t>
            </a:r>
          </a:p>
          <a:p xmlns:a="http://schemas.openxmlformats.org/drawingml/2006/main">
            <a:pPr algn="l">
              <a:defRPr sz="1800" b="0">
                <a:solidFill>
                  <a:srgbClr val="FFFFFF"/>
                </a:solidFill>
                <a:latin typeface="Aptos"/>
                <a:ea typeface="Aptos"/>
                <a:cs typeface="Aptos"/>
              </a:defRPr>
            </a:pPr>
            <a:r>
              <a:rPr sz="1800" b="0">
                <a:solidFill>
                  <a:srgbClr val="FFFFFF"/>
                </a:solidFill>
                <a:latin typeface="Aptos"/>
                <a:ea typeface="Aptos"/>
                <a:cs typeface="Aptos"/>
              </a:rPr>
              <a:t>Find Jira / Confluence evidence</a:t>
            </a:r>
          </a:p>
        </p:txBody>
      </p:sp>
      <p:sp>
        <p:nvSpPr>
          <p:cNvPr id="5" name="">
            <a:extLst xmlns:a="http://schemas.openxmlformats.org/drawingml/2006/main">
              <a:ext uri="{FF2B5EF4-FFF2-40B4-BE49-F238E27FC236}">
                <a16:creationId xmlns:a16="http://schemas.microsoft.com/office/drawing/2014/main" id="{B0095FE3-F7F3-43A8-A451-B743F76A1C59}"/>
              </a:ext>
            </a:extLst>
          </p:cNvPr>
          <p:cNvSpPr>
            <a:spLocks xmlns:a="http://schemas.openxmlformats.org/drawingml/2006/main" noGrp="1"/>
          </p:cNvSpPr>
          <p:nvPr/>
        </p:nvSpPr>
        <p:spPr>
          <a:xfrm xmlns:a="http://schemas.openxmlformats.org/drawingml/2006/main">
            <a:off x="4362450" y="2771775"/>
            <a:ext cx="3381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7EC83"/>
                </a:solidFill>
                <a:latin typeface="Aptos"/>
                <a:ea typeface="Aptos"/>
                <a:cs typeface="Aptos"/>
              </a:defRPr>
            </a:pPr>
            <a:r>
              <a:rPr sz="2100" b="1">
                <a:solidFill>
                  <a:srgbClr val="C7EC83"/>
                </a:solidFill>
                <a:latin typeface="Aptos"/>
                <a:ea typeface="Aptos"/>
                <a:cs typeface="Aptos"/>
              </a:rPr>
              <a:t>Build &amp; maintain</a:t>
            </a:r>
          </a:p>
        </p:txBody>
      </p:sp>
      <p:sp>
        <p:nvSpPr>
          <p:cNvPr id="6" name="">
            <a:extLst xmlns:a="http://schemas.openxmlformats.org/drawingml/2006/main">
              <a:ext uri="{FF2B5EF4-FFF2-40B4-BE49-F238E27FC236}">
                <a16:creationId xmlns:a16="http://schemas.microsoft.com/office/drawing/2014/main" id="{EAAA559F-85FA-4CDF-A204-95A294D07E99}"/>
              </a:ext>
            </a:extLst>
          </p:cNvPr>
          <p:cNvSpPr>
            <a:spLocks xmlns:a="http://schemas.openxmlformats.org/drawingml/2006/main" noGrp="1"/>
          </p:cNvSpPr>
          <p:nvPr/>
        </p:nvSpPr>
        <p:spPr>
          <a:xfrm xmlns:a="http://schemas.openxmlformats.org/drawingml/2006/main">
            <a:off x="4362450" y="3333750"/>
            <a:ext cx="3429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FFFFF"/>
                </a:solidFill>
                <a:latin typeface="Aptos"/>
                <a:ea typeface="Aptos"/>
                <a:cs typeface="Aptos"/>
              </a:defRPr>
            </a:pPr>
            <a:r>
              <a:rPr sz="1800" b="0">
                <a:solidFill>
                  <a:srgbClr val="FFFFFF"/>
                </a:solidFill>
                <a:latin typeface="Aptos"/>
                <a:ea typeface="Aptos"/>
                <a:cs typeface="Aptos"/>
              </a:rPr>
              <a:t>Create, update and scaffold</a:t>
            </a:r>
          </a:p>
          <a:p xmlns:a="http://schemas.openxmlformats.org/drawingml/2006/main">
            <a:pPr algn="l">
              <a:defRPr sz="1800" b="0">
                <a:solidFill>
                  <a:srgbClr val="FFFFFF"/>
                </a:solidFill>
                <a:latin typeface="Aptos"/>
                <a:ea typeface="Aptos"/>
                <a:cs typeface="Aptos"/>
              </a:defRPr>
            </a:pPr>
            <a:r>
              <a:rPr sz="1800" b="0">
                <a:solidFill>
                  <a:srgbClr val="FFFFFF"/>
                </a:solidFill>
                <a:latin typeface="Aptos"/>
                <a:ea typeface="Aptos"/>
                <a:cs typeface="Aptos"/>
              </a:rPr>
              <a:t>Generate tests and validate assets</a:t>
            </a:r>
          </a:p>
          <a:p xmlns:a="http://schemas.openxmlformats.org/drawingml/2006/main">
            <a:pPr algn="l">
              <a:defRPr sz="1800" b="0">
                <a:solidFill>
                  <a:srgbClr val="FFFFFF"/>
                </a:solidFill>
                <a:latin typeface="Aptos"/>
                <a:ea typeface="Aptos"/>
                <a:cs typeface="Aptos"/>
              </a:defRPr>
            </a:pPr>
            <a:r>
              <a:rPr sz="1800" b="0">
                <a:solidFill>
                  <a:srgbClr val="FFFFFF"/>
                </a:solidFill>
                <a:latin typeface="Aptos"/>
                <a:ea typeface="Aptos"/>
                <a:cs typeface="Aptos"/>
              </a:rPr>
              <a:t>Audit, repair and upgrade workflows</a:t>
            </a:r>
          </a:p>
        </p:txBody>
      </p:sp>
      <p:sp>
        <p:nvSpPr>
          <p:cNvPr id="7" name="">
            <a:extLst xmlns:a="http://schemas.openxmlformats.org/drawingml/2006/main">
              <a:ext uri="{FF2B5EF4-FFF2-40B4-BE49-F238E27FC236}">
                <a16:creationId xmlns:a16="http://schemas.microsoft.com/office/drawing/2014/main" id="{93745EB9-0332-4F9C-B490-D9B9F5B2703C}"/>
              </a:ext>
            </a:extLst>
          </p:cNvPr>
          <p:cNvSpPr>
            <a:spLocks xmlns:a="http://schemas.openxmlformats.org/drawingml/2006/main" noGrp="1"/>
          </p:cNvSpPr>
          <p:nvPr/>
        </p:nvSpPr>
        <p:spPr>
          <a:xfrm xmlns:a="http://schemas.openxmlformats.org/drawingml/2006/main">
            <a:off x="8077200" y="2771775"/>
            <a:ext cx="33813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C7EC83"/>
                </a:solidFill>
                <a:latin typeface="Aptos"/>
                <a:ea typeface="Aptos"/>
                <a:cs typeface="Aptos"/>
              </a:defRPr>
            </a:pPr>
            <a:r>
              <a:rPr sz="2100" b="1">
                <a:solidFill>
                  <a:srgbClr val="C7EC83"/>
                </a:solidFill>
                <a:latin typeface="Aptos"/>
                <a:ea typeface="Aptos"/>
                <a:cs typeface="Aptos"/>
              </a:rPr>
              <a:t>Diagnose &amp; operate</a:t>
            </a:r>
          </a:p>
        </p:txBody>
      </p:sp>
      <p:sp>
        <p:nvSpPr>
          <p:cNvPr id="8" name="">
            <a:extLst xmlns:a="http://schemas.openxmlformats.org/drawingml/2006/main">
              <a:ext uri="{FF2B5EF4-FFF2-40B4-BE49-F238E27FC236}">
                <a16:creationId xmlns:a16="http://schemas.microsoft.com/office/drawing/2014/main" id="{6DC54849-A963-41A7-87EB-07AA271F0F7D}"/>
              </a:ext>
            </a:extLst>
          </p:cNvPr>
          <p:cNvSpPr>
            <a:spLocks xmlns:a="http://schemas.openxmlformats.org/drawingml/2006/main" noGrp="1"/>
          </p:cNvSpPr>
          <p:nvPr/>
        </p:nvSpPr>
        <p:spPr>
          <a:xfrm xmlns:a="http://schemas.openxmlformats.org/drawingml/2006/main">
            <a:off x="8077200" y="3333750"/>
            <a:ext cx="342900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FFFFFF"/>
                </a:solidFill>
                <a:latin typeface="Aptos"/>
                <a:ea typeface="Aptos"/>
                <a:cs typeface="Aptos"/>
              </a:defRPr>
            </a:pPr>
            <a:r>
              <a:rPr sz="1800" b="0">
                <a:solidFill>
                  <a:srgbClr val="FFFFFF"/>
                </a:solidFill>
                <a:latin typeface="Aptos"/>
                <a:ea typeface="Aptos"/>
                <a:cs typeface="Aptos"/>
              </a:rPr>
              <a:t>Inspect ADF / Databricks evidence</a:t>
            </a:r>
          </a:p>
          <a:p xmlns:a="http://schemas.openxmlformats.org/drawingml/2006/main">
            <a:pPr algn="l">
              <a:defRPr sz="1800" b="0">
                <a:solidFill>
                  <a:srgbClr val="FFFFFF"/>
                </a:solidFill>
                <a:latin typeface="Aptos"/>
                <a:ea typeface="Aptos"/>
                <a:cs typeface="Aptos"/>
              </a:defRPr>
            </a:pPr>
            <a:r>
              <a:rPr sz="1800" b="0">
                <a:solidFill>
                  <a:srgbClr val="FFFFFF"/>
                </a:solidFill>
                <a:latin typeface="Aptos"/>
                <a:ea typeface="Aptos"/>
                <a:cs typeface="Aptos"/>
              </a:rPr>
              <a:t>Verify DEV outcomes</a:t>
            </a:r>
          </a:p>
          <a:p xmlns:a="http://schemas.openxmlformats.org/drawingml/2006/main">
            <a:pPr algn="l">
              <a:defRPr sz="1800" b="0">
                <a:solidFill>
                  <a:srgbClr val="FFFFFF"/>
                </a:solidFill>
                <a:latin typeface="Aptos"/>
                <a:ea typeface="Aptos"/>
                <a:cs typeface="Aptos"/>
              </a:defRPr>
            </a:pPr>
            <a:r>
              <a:rPr sz="1800" b="0">
                <a:solidFill>
                  <a:srgbClr val="FFFFFF"/>
                </a:solidFill>
                <a:latin typeface="Aptos"/>
                <a:ea typeface="Aptos"/>
                <a:cs typeface="Aptos"/>
              </a:rPr>
              <a:t>Publish or run with separate approval</a:t>
            </a:r>
          </a:p>
        </p:txBody>
      </p:sp>
      <p:sp>
        <p:nvSpPr>
          <p:cNvPr id="9" name="">
            <a:extLst xmlns:a="http://schemas.openxmlformats.org/drawingml/2006/main">
              <a:ext uri="{FF2B5EF4-FFF2-40B4-BE49-F238E27FC236}">
                <a16:creationId xmlns:a16="http://schemas.microsoft.com/office/drawing/2014/main" id="{0764D660-0E49-4B26-9667-681D5604B1B4}"/>
              </a:ext>
            </a:extLst>
          </p:cNvPr>
          <p:cNvSpPr>
            <a:spLocks xmlns:a="http://schemas.openxmlformats.org/drawingml/2006/main" noGrp="1"/>
          </p:cNvSpPr>
          <p:nvPr/>
        </p:nvSpPr>
        <p:spPr>
          <a:xfrm xmlns:a="http://schemas.openxmlformats.org/drawingml/2006/main">
            <a:off x="609600" y="4819650"/>
            <a:ext cx="10972800" cy="9525"/>
          </a:xfrm>
          <a:prstGeom xmlns:a="http://schemas.openxmlformats.org/drawingml/2006/main" prst="rect">
            <a:avLst/>
          </a:prstGeom>
          <a:solidFill xmlns:a="http://schemas.openxmlformats.org/drawingml/2006/main">
            <a:srgbClr val="BDD0C6"/>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07A6F387-343C-45C7-8086-93B2DBCBE8A6}"/>
              </a:ext>
            </a:extLst>
          </p:cNvPr>
          <p:cNvSpPr>
            <a:spLocks xmlns:a="http://schemas.openxmlformats.org/drawingml/2006/main" noGrp="1"/>
          </p:cNvSpPr>
          <p:nvPr/>
        </p:nvSpPr>
        <p:spPr>
          <a:xfrm xmlns:a="http://schemas.openxmlformats.org/drawingml/2006/main">
            <a:off x="647700" y="5038725"/>
            <a:ext cx="10287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C7EC83"/>
                </a:solidFill>
                <a:latin typeface="Aptos"/>
                <a:ea typeface="Aptos"/>
                <a:cs typeface="Aptos"/>
              </a:defRPr>
            </a:pPr>
            <a:r>
              <a:rPr sz="1350" b="1">
                <a:solidFill>
                  <a:srgbClr val="C7EC83"/>
                </a:solidFill>
                <a:latin typeface="Aptos"/>
                <a:ea typeface="Aptos"/>
                <a:cs typeface="Aptos"/>
              </a:rPr>
              <a:t>MAJOR WORK DELIVERED</a:t>
            </a:r>
          </a:p>
        </p:txBody>
      </p:sp>
      <p:sp>
        <p:nvSpPr>
          <p:cNvPr id="11" name="">
            <a:extLst xmlns:a="http://schemas.openxmlformats.org/drawingml/2006/main">
              <a:ext uri="{FF2B5EF4-FFF2-40B4-BE49-F238E27FC236}">
                <a16:creationId xmlns:a16="http://schemas.microsoft.com/office/drawing/2014/main" id="{A44B2DD5-78B8-48AC-9166-7E687CAE268B}"/>
              </a:ext>
            </a:extLst>
          </p:cNvPr>
          <p:cNvSpPr>
            <a:spLocks xmlns:a="http://schemas.openxmlformats.org/drawingml/2006/main" noGrp="1"/>
          </p:cNvSpPr>
          <p:nvPr/>
        </p:nvSpPr>
        <p:spPr>
          <a:xfrm xmlns:a="http://schemas.openxmlformats.org/drawingml/2006/main">
            <a:off x="647700" y="5429250"/>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FFFFFF"/>
                </a:solidFill>
                <a:latin typeface="Aptos"/>
                <a:ea typeface="Aptos"/>
                <a:cs typeface="Aptos"/>
              </a:defRPr>
            </a:pPr>
            <a:r>
              <a:rPr sz="1875" b="1">
                <a:solidFill>
                  <a:srgbClr val="FFFFFF"/>
                </a:solidFill>
                <a:latin typeface="Aptos"/>
                <a:ea typeface="Aptos"/>
                <a:cs typeface="Aptos"/>
              </a:rPr>
              <a:t>Native STTM + contracts</a:t>
            </a:r>
          </a:p>
        </p:txBody>
      </p:sp>
      <p:sp>
        <p:nvSpPr>
          <p:cNvPr id="12" name="">
            <a:extLst xmlns:a="http://schemas.openxmlformats.org/drawingml/2006/main">
              <a:ext uri="{FF2B5EF4-FFF2-40B4-BE49-F238E27FC236}">
                <a16:creationId xmlns:a16="http://schemas.microsoft.com/office/drawing/2014/main" id="{D359EFF6-E9AC-412E-9835-3EF61538C7AC}"/>
              </a:ext>
            </a:extLst>
          </p:cNvPr>
          <p:cNvSpPr>
            <a:spLocks xmlns:a="http://schemas.openxmlformats.org/drawingml/2006/main" noGrp="1"/>
          </p:cNvSpPr>
          <p:nvPr/>
        </p:nvSpPr>
        <p:spPr>
          <a:xfrm xmlns:a="http://schemas.openxmlformats.org/drawingml/2006/main">
            <a:off x="647700" y="6010275"/>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DD0C6"/>
                </a:solidFill>
                <a:latin typeface="Aptos"/>
                <a:ea typeface="Aptos"/>
                <a:cs typeface="Aptos"/>
              </a:defRPr>
            </a:pPr>
            <a:r>
              <a:rPr sz="1350" b="0">
                <a:solidFill>
                  <a:srgbClr val="BDD0C6"/>
                </a:solidFill>
                <a:latin typeface="Aptos"/>
                <a:ea typeface="Aptos"/>
                <a:cs typeface="Aptos"/>
              </a:rPr>
              <a:t>Traceable mappings and Framework rules</a:t>
            </a:r>
          </a:p>
        </p:txBody>
      </p:sp>
      <p:sp>
        <p:nvSpPr>
          <p:cNvPr id="13" name="">
            <a:extLst xmlns:a="http://schemas.openxmlformats.org/drawingml/2006/main">
              <a:ext uri="{FF2B5EF4-FFF2-40B4-BE49-F238E27FC236}">
                <a16:creationId xmlns:a16="http://schemas.microsoft.com/office/drawing/2014/main" id="{F183F768-C50F-48DF-B229-720D33706C17}"/>
              </a:ext>
            </a:extLst>
          </p:cNvPr>
          <p:cNvSpPr>
            <a:spLocks xmlns:a="http://schemas.openxmlformats.org/drawingml/2006/main" noGrp="1"/>
          </p:cNvSpPr>
          <p:nvPr/>
        </p:nvSpPr>
        <p:spPr>
          <a:xfrm xmlns:a="http://schemas.openxmlformats.org/drawingml/2006/main">
            <a:off x="4362450" y="5429250"/>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FFFFFF"/>
                </a:solidFill>
                <a:latin typeface="Aptos"/>
                <a:ea typeface="Aptos"/>
                <a:cs typeface="Aptos"/>
              </a:defRPr>
            </a:pPr>
            <a:r>
              <a:rPr sz="1875" b="1">
                <a:solidFill>
                  <a:srgbClr val="FFFFFF"/>
                </a:solidFill>
                <a:latin typeface="Aptos"/>
                <a:ea typeface="Aptos"/>
                <a:cs typeface="Aptos"/>
              </a:rPr>
              <a:t>Orchestrator + specialists</a:t>
            </a:r>
          </a:p>
        </p:txBody>
      </p:sp>
      <p:sp>
        <p:nvSpPr>
          <p:cNvPr id="14" name="">
            <a:extLst xmlns:a="http://schemas.openxmlformats.org/drawingml/2006/main">
              <a:ext uri="{FF2B5EF4-FFF2-40B4-BE49-F238E27FC236}">
                <a16:creationId xmlns:a16="http://schemas.microsoft.com/office/drawing/2014/main" id="{23FB3F17-BE2F-415F-9A12-D53119F90AB7}"/>
              </a:ext>
            </a:extLst>
          </p:cNvPr>
          <p:cNvSpPr>
            <a:spLocks xmlns:a="http://schemas.openxmlformats.org/drawingml/2006/main" noGrp="1"/>
          </p:cNvSpPr>
          <p:nvPr/>
        </p:nvSpPr>
        <p:spPr>
          <a:xfrm xmlns:a="http://schemas.openxmlformats.org/drawingml/2006/main">
            <a:off x="4362450" y="6010275"/>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DD0C6"/>
                </a:solidFill>
                <a:latin typeface="Aptos"/>
                <a:ea typeface="Aptos"/>
                <a:cs typeface="Aptos"/>
              </a:defRPr>
            </a:pPr>
            <a:r>
              <a:rPr sz="1350" b="0">
                <a:solidFill>
                  <a:srgbClr val="BDD0C6"/>
                </a:solidFill>
                <a:latin typeface="Aptos"/>
                <a:ea typeface="Aptos"/>
                <a:cs typeface="Aptos"/>
              </a:rPr>
              <a:t>Managed agents, skills and tool profiles</a:t>
            </a:r>
          </a:p>
        </p:txBody>
      </p:sp>
      <p:sp>
        <p:nvSpPr>
          <p:cNvPr id="15" name="">
            <a:extLst xmlns:a="http://schemas.openxmlformats.org/drawingml/2006/main">
              <a:ext uri="{FF2B5EF4-FFF2-40B4-BE49-F238E27FC236}">
                <a16:creationId xmlns:a16="http://schemas.microsoft.com/office/drawing/2014/main" id="{DE9F33FB-4D1E-4B33-A6A1-974D2B6B4406}"/>
              </a:ext>
            </a:extLst>
          </p:cNvPr>
          <p:cNvSpPr>
            <a:spLocks xmlns:a="http://schemas.openxmlformats.org/drawingml/2006/main" noGrp="1"/>
          </p:cNvSpPr>
          <p:nvPr/>
        </p:nvSpPr>
        <p:spPr>
          <a:xfrm xmlns:a="http://schemas.openxmlformats.org/drawingml/2006/main">
            <a:off x="8077200" y="5429250"/>
            <a:ext cx="34766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FFFFFF"/>
                </a:solidFill>
                <a:latin typeface="Aptos"/>
                <a:ea typeface="Aptos"/>
                <a:cs typeface="Aptos"/>
              </a:defRPr>
            </a:pPr>
            <a:r>
              <a:rPr sz="1875" b="1">
                <a:solidFill>
                  <a:srgbClr val="FFFFFF"/>
                </a:solidFill>
                <a:latin typeface="Aptos"/>
                <a:ea typeface="Aptos"/>
                <a:cs typeface="Aptos"/>
              </a:rPr>
              <a:t>Packaged product + test harness</a:t>
            </a:r>
          </a:p>
        </p:txBody>
      </p:sp>
      <p:sp>
        <p:nvSpPr>
          <p:cNvPr id="16" name="">
            <a:extLst xmlns:a="http://schemas.openxmlformats.org/drawingml/2006/main">
              <a:ext uri="{FF2B5EF4-FFF2-40B4-BE49-F238E27FC236}">
                <a16:creationId xmlns:a16="http://schemas.microsoft.com/office/drawing/2014/main" id="{8C1C1B7B-EB3B-4846-A2DB-3F9FC72665A8}"/>
              </a:ext>
            </a:extLst>
          </p:cNvPr>
          <p:cNvSpPr>
            <a:spLocks xmlns:a="http://schemas.openxmlformats.org/drawingml/2006/main" noGrp="1"/>
          </p:cNvSpPr>
          <p:nvPr/>
        </p:nvSpPr>
        <p:spPr>
          <a:xfrm xmlns:a="http://schemas.openxmlformats.org/drawingml/2006/main">
            <a:off x="8077200" y="6010275"/>
            <a:ext cx="34766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BDD0C6"/>
                </a:solidFill>
                <a:latin typeface="Aptos"/>
                <a:ea typeface="Aptos"/>
                <a:cs typeface="Aptos"/>
              </a:defRPr>
            </a:pPr>
            <a:r>
              <a:rPr sz="1350" b="0">
                <a:solidFill>
                  <a:srgbClr val="BDD0C6"/>
                </a:solidFill>
                <a:latin typeface="Aptos"/>
                <a:ea typeface="Aptos"/>
                <a:cs typeface="Aptos"/>
              </a:rPr>
              <a:t>Reusable checks through installed VSIX</a:t>
            </a:r>
          </a:p>
        </p:txBody>
      </p:sp>
    </p:spTree>
    <p:extLst>
      <p:ext uri="{BB962C8B-B14F-4D97-AF65-F5344CB8AC3E}">
        <p14:creationId xmlns:p14="http://schemas.microsoft.com/office/powerpoint/2010/main" val="3455239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8" name="">
            <a:extLst xmlns:a="http://schemas.openxmlformats.org/drawingml/2006/main">
              <a:ext uri="{FF2B5EF4-FFF2-40B4-BE49-F238E27FC236}">
                <a16:creationId xmlns:a16="http://schemas.microsoft.com/office/drawing/2014/main" id="{0ADD2C0D-04D8-4B7D-8A5F-0CA285DEC136}"/>
              </a:ext>
            </a:extLst>
          </p:cNvPr>
          <p:cNvSpPr>
            <a:spLocks xmlns:a="http://schemas.openxmlformats.org/drawingml/2006/main" noGrp="1"/>
          </p:cNvSpPr>
          <p:nvPr/>
        </p:nvSpPr>
        <p:spPr>
          <a:xfrm xmlns:a="http://schemas.openxmlformats.org/drawingml/2006/main">
            <a:off x="609600" y="3810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F36"/>
                </a:solidFill>
                <a:latin typeface="Aptos"/>
                <a:ea typeface="Aptos"/>
                <a:cs typeface="Aptos"/>
              </a:defRPr>
            </a:pPr>
            <a:r>
              <a:rPr sz="3225" b="1">
                <a:solidFill>
                  <a:srgbClr val="173F36"/>
                </a:solidFill>
                <a:latin typeface="Aptos"/>
                <a:ea typeface="Aptos"/>
                <a:cs typeface="Aptos"/>
              </a:rPr>
              <a:t>How a request travels through the system</a:t>
            </a:r>
          </a:p>
        </p:txBody>
      </p:sp>
      <p:sp>
        <p:nvSpPr>
          <p:cNvPr id="2" name="">
            <a:extLst xmlns:a="http://schemas.openxmlformats.org/drawingml/2006/main">
              <a:ext uri="{FF2B5EF4-FFF2-40B4-BE49-F238E27FC236}">
                <a16:creationId xmlns:a16="http://schemas.microsoft.com/office/drawing/2014/main" id="{A80170F9-0395-421B-AEFB-C4485C437710}"/>
              </a:ext>
            </a:extLst>
          </p:cNvPr>
          <p:cNvSpPr>
            <a:spLocks xmlns:a="http://schemas.openxmlformats.org/drawingml/2006/main" noGrp="1"/>
          </p:cNvSpPr>
          <p:nvPr/>
        </p:nvSpPr>
        <p:spPr>
          <a:xfrm xmlns:a="http://schemas.openxmlformats.org/drawingml/2006/main">
            <a:off x="609600" y="1047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3675F"/>
                </a:solidFill>
                <a:latin typeface="Aptos"/>
                <a:ea typeface="Aptos"/>
                <a:cs typeface="Aptos"/>
              </a:defRPr>
            </a:pPr>
            <a:r>
              <a:rPr sz="1650" b="0">
                <a:solidFill>
                  <a:srgbClr val="53675F"/>
                </a:solidFill>
                <a:latin typeface="Aptos"/>
                <a:ea typeface="Aptos"/>
                <a:cs typeface="Aptos"/>
              </a:rPr>
              <a:t>Consumer workflow guidance selects the roles and tools needed for the task.</a:t>
            </a:r>
          </a:p>
        </p:txBody>
      </p:sp>
      <p:sp>
        <p:nvSpPr>
          <p:cNvPr id="3" name="">
            <a:extLst xmlns:a="http://schemas.openxmlformats.org/drawingml/2006/main">
              <a:ext uri="{FF2B5EF4-FFF2-40B4-BE49-F238E27FC236}">
                <a16:creationId xmlns:a16="http://schemas.microsoft.com/office/drawing/2014/main" id="{53FA60AD-4E7E-4521-8A90-44947E5A7898}"/>
              </a:ext>
            </a:extLst>
          </p:cNvPr>
          <p:cNvSpPr>
            <a:spLocks xmlns:a="http://schemas.openxmlformats.org/drawingml/2006/main" noGrp="1"/>
          </p:cNvSpPr>
          <p:nvPr/>
        </p:nvSpPr>
        <p:spPr>
          <a:xfrm xmlns:a="http://schemas.openxmlformats.org/drawingml/2006/main">
            <a:off x="609600" y="1581150"/>
            <a:ext cx="2190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E60"/>
                </a:solidFill>
                <a:latin typeface="Aptos"/>
                <a:ea typeface="Aptos"/>
                <a:cs typeface="Aptos"/>
              </a:defRPr>
            </a:pPr>
            <a:r>
              <a:rPr sz="1200" b="1">
                <a:solidFill>
                  <a:srgbClr val="087E60"/>
                </a:solidFill>
                <a:latin typeface="Aptos"/>
                <a:ea typeface="Aptos"/>
                <a:cs typeface="Aptos"/>
              </a:rPr>
              <a:t>REQUEST</a:t>
            </a:r>
          </a:p>
        </p:txBody>
      </p:sp>
      <p:sp>
        <p:nvSpPr>
          <p:cNvPr id="4" name="">
            <a:extLst xmlns:a="http://schemas.openxmlformats.org/drawingml/2006/main">
              <a:ext uri="{FF2B5EF4-FFF2-40B4-BE49-F238E27FC236}">
                <a16:creationId xmlns:a16="http://schemas.microsoft.com/office/drawing/2014/main" id="{40CC9FC9-BCF6-4B05-9187-ADF3B6544939}"/>
              </a:ext>
            </a:extLst>
          </p:cNvPr>
          <p:cNvSpPr>
            <a:spLocks xmlns:a="http://schemas.openxmlformats.org/drawingml/2006/main" noGrp="1"/>
          </p:cNvSpPr>
          <p:nvPr/>
        </p:nvSpPr>
        <p:spPr>
          <a:xfrm xmlns:a="http://schemas.openxmlformats.org/drawingml/2006/main">
            <a:off x="3257550" y="1581150"/>
            <a:ext cx="53340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E60"/>
                </a:solidFill>
                <a:latin typeface="Aptos"/>
                <a:ea typeface="Aptos"/>
                <a:cs typeface="Aptos"/>
              </a:defRPr>
            </a:pPr>
            <a:r>
              <a:rPr sz="1200" b="1">
                <a:solidFill>
                  <a:srgbClr val="087E60"/>
                </a:solidFill>
                <a:latin typeface="Aptos"/>
                <a:ea typeface="Aptos"/>
                <a:cs typeface="Aptos"/>
              </a:rPr>
              <a:t>GITHUB WORKFLOW ASSETS</a:t>
            </a:r>
          </a:p>
        </p:txBody>
      </p:sp>
      <p:sp>
        <p:nvSpPr>
          <p:cNvPr id="5" name="">
            <a:extLst xmlns:a="http://schemas.openxmlformats.org/drawingml/2006/main">
              <a:ext uri="{FF2B5EF4-FFF2-40B4-BE49-F238E27FC236}">
                <a16:creationId xmlns:a16="http://schemas.microsoft.com/office/drawing/2014/main" id="{62C6D0EB-26DD-4AB0-B6D9-4B3B48B93FE2}"/>
              </a:ext>
            </a:extLst>
          </p:cNvPr>
          <p:cNvSpPr>
            <a:spLocks xmlns:a="http://schemas.openxmlformats.org/drawingml/2006/main" noGrp="1"/>
          </p:cNvSpPr>
          <p:nvPr/>
        </p:nvSpPr>
        <p:spPr>
          <a:xfrm xmlns:a="http://schemas.openxmlformats.org/drawingml/2006/main">
            <a:off x="9105900" y="1581150"/>
            <a:ext cx="2476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1">
                <a:solidFill>
                  <a:srgbClr val="087E60"/>
                </a:solidFill>
                <a:latin typeface="Aptos"/>
                <a:ea typeface="Aptos"/>
                <a:cs typeface="Aptos"/>
              </a:defRPr>
            </a:pPr>
            <a:r>
              <a:rPr sz="1200" b="1">
                <a:solidFill>
                  <a:srgbClr val="087E60"/>
                </a:solidFill>
                <a:latin typeface="Aptos"/>
                <a:ea typeface="Aptos"/>
                <a:cs typeface="Aptos"/>
              </a:rPr>
              <a:t>RESPONSE</a:t>
            </a:r>
          </a:p>
        </p:txBody>
      </p:sp>
      <p:sp>
        <p:nvSpPr>
          <p:cNvPr id="6" name="">
            <a:extLst xmlns:a="http://schemas.openxmlformats.org/drawingml/2006/main">
              <a:ext uri="{FF2B5EF4-FFF2-40B4-BE49-F238E27FC236}">
                <a16:creationId xmlns:a16="http://schemas.microsoft.com/office/drawing/2014/main" id="{1212A2DC-FCE3-4B3F-A03F-BD5AD61FDF0A}"/>
              </a:ext>
            </a:extLst>
          </p:cNvPr>
          <p:cNvSpPr>
            <a:spLocks xmlns:a="http://schemas.openxmlformats.org/drawingml/2006/main" noGrp="1"/>
          </p:cNvSpPr>
          <p:nvPr/>
        </p:nvSpPr>
        <p:spPr>
          <a:xfrm xmlns:a="http://schemas.openxmlformats.org/drawingml/2006/main">
            <a:off x="609600" y="1885950"/>
            <a:ext cx="2190750" cy="819150"/>
          </a:xfrm>
          <a:prstGeom xmlns:a="http://schemas.openxmlformats.org/drawingml/2006/main" prst="rect">
            <a:avLst/>
          </a:prstGeom>
          <a:solidFill xmlns:a="http://schemas.openxmlformats.org/drawingml/2006/main">
            <a:srgbClr val="EFF5F0"/>
          </a:solidFill>
          <a:ln xmlns:a="http://schemas.openxmlformats.org/drawingml/2006/main" w="9525">
            <a:solidFill>
              <a:srgbClr val="D5E0D9"/>
            </a:solidFill>
          </a:ln>
        </p:spPr>
      </p:sp>
      <p:sp>
        <p:nvSpPr>
          <p:cNvPr id="7" name="">
            <a:extLst xmlns:a="http://schemas.openxmlformats.org/drawingml/2006/main">
              <a:ext uri="{FF2B5EF4-FFF2-40B4-BE49-F238E27FC236}">
                <a16:creationId xmlns:a16="http://schemas.microsoft.com/office/drawing/2014/main" id="{61B6B2C6-996C-4296-B620-2CB10327B46C}"/>
              </a:ext>
            </a:extLst>
          </p:cNvPr>
          <p:cNvSpPr>
            <a:spLocks xmlns:a="http://schemas.openxmlformats.org/drawingml/2006/main" noGrp="1"/>
          </p:cNvSpPr>
          <p:nvPr/>
        </p:nvSpPr>
        <p:spPr>
          <a:xfrm xmlns:a="http://schemas.openxmlformats.org/drawingml/2006/main">
            <a:off x="762000" y="2009775"/>
            <a:ext cx="1905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3F36"/>
                </a:solidFill>
                <a:latin typeface="Aptos"/>
                <a:ea typeface="Aptos"/>
                <a:cs typeface="Aptos"/>
              </a:defRPr>
            </a:pPr>
            <a:r>
              <a:rPr sz="2025" b="1">
                <a:solidFill>
                  <a:srgbClr val="173F36"/>
                </a:solidFill>
                <a:latin typeface="Aptos"/>
                <a:ea typeface="Aptos"/>
                <a:cs typeface="Aptos"/>
              </a:rPr>
              <a:t>User request</a:t>
            </a:r>
          </a:p>
        </p:txBody>
      </p:sp>
      <p:sp>
        <p:nvSpPr>
          <p:cNvPr id="8" name="">
            <a:extLst xmlns:a="http://schemas.openxmlformats.org/drawingml/2006/main">
              <a:ext uri="{FF2B5EF4-FFF2-40B4-BE49-F238E27FC236}">
                <a16:creationId xmlns:a16="http://schemas.microsoft.com/office/drawing/2014/main" id="{377E7B54-FE06-45B4-A139-E6DBEDC9B872}"/>
              </a:ext>
            </a:extLst>
          </p:cNvPr>
          <p:cNvSpPr>
            <a:spLocks xmlns:a="http://schemas.openxmlformats.org/drawingml/2006/main" noGrp="1"/>
          </p:cNvSpPr>
          <p:nvPr/>
        </p:nvSpPr>
        <p:spPr>
          <a:xfrm xmlns:a="http://schemas.openxmlformats.org/drawingml/2006/main">
            <a:off x="762000" y="2400300"/>
            <a:ext cx="1905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3675F"/>
                </a:solidFill>
                <a:latin typeface="Aptos"/>
                <a:ea typeface="Aptos"/>
                <a:cs typeface="Aptos"/>
              </a:defRPr>
            </a:pPr>
            <a:r>
              <a:rPr sz="1350" b="0">
                <a:solidFill>
                  <a:srgbClr val="53675F"/>
                </a:solidFill>
                <a:latin typeface="Aptos"/>
                <a:ea typeface="Aptos"/>
                <a:cs typeface="Aptos"/>
              </a:rPr>
              <a:t>Intent + workspace</a:t>
            </a:r>
          </a:p>
        </p:txBody>
      </p:sp>
      <p:sp>
        <p:nvSpPr>
          <p:cNvPr id="9" name="">
            <a:extLst xmlns:a="http://schemas.openxmlformats.org/drawingml/2006/main">
              <a:ext uri="{FF2B5EF4-FFF2-40B4-BE49-F238E27FC236}">
                <a16:creationId xmlns:a16="http://schemas.microsoft.com/office/drawing/2014/main" id="{A9A2D008-D7BB-47B9-873C-6D5A3D3AD9F8}"/>
              </a:ext>
            </a:extLst>
          </p:cNvPr>
          <p:cNvSpPr>
            <a:spLocks xmlns:a="http://schemas.openxmlformats.org/drawingml/2006/main" noGrp="1"/>
          </p:cNvSpPr>
          <p:nvPr/>
        </p:nvSpPr>
        <p:spPr>
          <a:xfrm xmlns:a="http://schemas.openxmlformats.org/drawingml/2006/main">
            <a:off x="3257550" y="1885950"/>
            <a:ext cx="5334000" cy="819150"/>
          </a:xfrm>
          <a:prstGeom xmlns:a="http://schemas.openxmlformats.org/drawingml/2006/main" prst="rect">
            <a:avLst/>
          </a:prstGeom>
          <a:solidFill xmlns:a="http://schemas.openxmlformats.org/drawingml/2006/main">
            <a:srgbClr val="EFF5F0"/>
          </a:solidFill>
          <a:ln xmlns:a="http://schemas.openxmlformats.org/drawingml/2006/main" w="9525">
            <a:solidFill>
              <a:srgbClr val="D5E0D9"/>
            </a:solidFill>
          </a:ln>
        </p:spPr>
      </p:sp>
      <p:sp>
        <p:nvSpPr>
          <p:cNvPr id="10" name="">
            <a:extLst xmlns:a="http://schemas.openxmlformats.org/drawingml/2006/main">
              <a:ext uri="{FF2B5EF4-FFF2-40B4-BE49-F238E27FC236}">
                <a16:creationId xmlns:a16="http://schemas.microsoft.com/office/drawing/2014/main" id="{630C2249-7D1E-440E-A263-ED3ABF231BAB}"/>
              </a:ext>
            </a:extLst>
          </p:cNvPr>
          <p:cNvSpPr>
            <a:spLocks xmlns:a="http://schemas.openxmlformats.org/drawingml/2006/main" noGrp="1"/>
          </p:cNvSpPr>
          <p:nvPr/>
        </p:nvSpPr>
        <p:spPr>
          <a:xfrm xmlns:a="http://schemas.openxmlformats.org/drawingml/2006/main">
            <a:off x="3429000" y="2009775"/>
            <a:ext cx="49815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3F36"/>
                </a:solidFill>
                <a:latin typeface="Aptos"/>
                <a:ea typeface="Aptos"/>
                <a:cs typeface="Aptos"/>
              </a:defRPr>
            </a:pPr>
            <a:r>
              <a:rPr sz="2025" b="1">
                <a:solidFill>
                  <a:srgbClr val="173F36"/>
                </a:solidFill>
                <a:latin typeface="Aptos"/>
                <a:ea typeface="Aptos"/>
                <a:cs typeface="Aptos"/>
              </a:rPr>
              <a:t>Consumer .github</a:t>
            </a:r>
          </a:p>
        </p:txBody>
      </p:sp>
      <p:sp>
        <p:nvSpPr>
          <p:cNvPr id="11" name="">
            <a:extLst xmlns:a="http://schemas.openxmlformats.org/drawingml/2006/main">
              <a:ext uri="{FF2B5EF4-FFF2-40B4-BE49-F238E27FC236}">
                <a16:creationId xmlns:a16="http://schemas.microsoft.com/office/drawing/2014/main" id="{9A56F2CF-81F3-44AD-970C-4F309C4AE4AB}"/>
              </a:ext>
            </a:extLst>
          </p:cNvPr>
          <p:cNvSpPr>
            <a:spLocks xmlns:a="http://schemas.openxmlformats.org/drawingml/2006/main" noGrp="1"/>
          </p:cNvSpPr>
          <p:nvPr/>
        </p:nvSpPr>
        <p:spPr>
          <a:xfrm xmlns:a="http://schemas.openxmlformats.org/drawingml/2006/main">
            <a:off x="3429000" y="2409825"/>
            <a:ext cx="49815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3675F"/>
                </a:solidFill>
                <a:latin typeface="Aptos"/>
                <a:ea typeface="Aptos"/>
                <a:cs typeface="Aptos"/>
              </a:defRPr>
            </a:pPr>
            <a:r>
              <a:rPr sz="1575" b="0">
                <a:solidFill>
                  <a:srgbClr val="53675F"/>
                </a:solidFill>
                <a:latin typeface="Aptos"/>
                <a:ea typeface="Aptos"/>
                <a:cs typeface="Aptos"/>
              </a:rPr>
              <a:t>Agents  •  instructions  •  prompts  •  skills</a:t>
            </a:r>
          </a:p>
        </p:txBody>
      </p:sp>
      <p:sp>
        <p:nvSpPr>
          <p:cNvPr id="12" name="">
            <a:extLst xmlns:a="http://schemas.openxmlformats.org/drawingml/2006/main">
              <a:ext uri="{FF2B5EF4-FFF2-40B4-BE49-F238E27FC236}">
                <a16:creationId xmlns:a16="http://schemas.microsoft.com/office/drawing/2014/main" id="{6B0C681F-4188-435E-A8C1-53F3AF431959}"/>
              </a:ext>
            </a:extLst>
          </p:cNvPr>
          <p:cNvSpPr>
            <a:spLocks xmlns:a="http://schemas.openxmlformats.org/drawingml/2006/main" noGrp="1"/>
          </p:cNvSpPr>
          <p:nvPr/>
        </p:nvSpPr>
        <p:spPr>
          <a:xfrm xmlns:a="http://schemas.openxmlformats.org/drawingml/2006/main">
            <a:off x="9105900" y="1885950"/>
            <a:ext cx="2476500" cy="819150"/>
          </a:xfrm>
          <a:prstGeom xmlns:a="http://schemas.openxmlformats.org/drawingml/2006/main" prst="rect">
            <a:avLst/>
          </a:prstGeom>
          <a:solidFill xmlns:a="http://schemas.openxmlformats.org/drawingml/2006/main">
            <a:srgbClr val="173F36"/>
          </a:solidFill>
          <a:ln xmlns:a="http://schemas.openxmlformats.org/drawingml/2006/main" w="9525">
            <a:solidFill>
              <a:srgbClr val="173F36"/>
            </a:solidFill>
          </a:ln>
        </p:spPr>
      </p:sp>
      <p:sp>
        <p:nvSpPr>
          <p:cNvPr id="13" name="">
            <a:extLst xmlns:a="http://schemas.openxmlformats.org/drawingml/2006/main">
              <a:ext uri="{FF2B5EF4-FFF2-40B4-BE49-F238E27FC236}">
                <a16:creationId xmlns:a16="http://schemas.microsoft.com/office/drawing/2014/main" id="{16AECD41-CA85-4F7C-9F28-EAEE98D3F5AC}"/>
              </a:ext>
            </a:extLst>
          </p:cNvPr>
          <p:cNvSpPr>
            <a:spLocks xmlns:a="http://schemas.openxmlformats.org/drawingml/2006/main" noGrp="1"/>
          </p:cNvSpPr>
          <p:nvPr/>
        </p:nvSpPr>
        <p:spPr>
          <a:xfrm xmlns:a="http://schemas.openxmlformats.org/drawingml/2006/main">
            <a:off x="9267825" y="2009775"/>
            <a:ext cx="21431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FFFFFF"/>
                </a:solidFill>
                <a:latin typeface="Aptos"/>
                <a:ea typeface="Aptos"/>
                <a:cs typeface="Aptos"/>
              </a:defRPr>
            </a:pPr>
            <a:r>
              <a:rPr sz="2025" b="1">
                <a:solidFill>
                  <a:srgbClr val="FFFFFF"/>
                </a:solidFill>
                <a:latin typeface="Aptos"/>
                <a:ea typeface="Aptos"/>
                <a:cs typeface="Aptos"/>
              </a:rPr>
              <a:t>Agent answer</a:t>
            </a:r>
          </a:p>
        </p:txBody>
      </p:sp>
      <p:sp>
        <p:nvSpPr>
          <p:cNvPr id="14" name="">
            <a:extLst xmlns:a="http://schemas.openxmlformats.org/drawingml/2006/main">
              <a:ext uri="{FF2B5EF4-FFF2-40B4-BE49-F238E27FC236}">
                <a16:creationId xmlns:a16="http://schemas.microsoft.com/office/drawing/2014/main" id="{6090DA03-5626-47E4-B45E-E59B7F8B3B71}"/>
              </a:ext>
            </a:extLst>
          </p:cNvPr>
          <p:cNvSpPr>
            <a:spLocks xmlns:a="http://schemas.openxmlformats.org/drawingml/2006/main" noGrp="1"/>
          </p:cNvSpPr>
          <p:nvPr/>
        </p:nvSpPr>
        <p:spPr>
          <a:xfrm xmlns:a="http://schemas.openxmlformats.org/drawingml/2006/main">
            <a:off x="9267825" y="2400300"/>
            <a:ext cx="2143125"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75" b="0">
                <a:solidFill>
                  <a:srgbClr val="C7EC83"/>
                </a:solidFill>
                <a:latin typeface="Aptos"/>
                <a:ea typeface="Aptos"/>
                <a:cs typeface="Aptos"/>
              </a:defRPr>
            </a:pPr>
            <a:r>
              <a:rPr sz="1275" b="0">
                <a:solidFill>
                  <a:srgbClr val="C7EC83"/>
                </a:solidFill>
                <a:latin typeface="Aptos"/>
                <a:ea typeface="Aptos"/>
                <a:cs typeface="Aptos"/>
              </a:rPr>
              <a:t>Evidence + next step</a:t>
            </a:r>
          </a:p>
        </p:txBody>
      </p:sp>
      <p:sp>
        <p:nvSpPr>
          <p:cNvPr id="15" name="">
            <a:extLst xmlns:a="http://schemas.openxmlformats.org/drawingml/2006/main">
              <a:ext uri="{FF2B5EF4-FFF2-40B4-BE49-F238E27FC236}">
                <a16:creationId xmlns:a16="http://schemas.microsoft.com/office/drawing/2014/main" id="{38FA47AC-AE08-4776-8367-ADD299C61450}"/>
              </a:ext>
            </a:extLst>
          </p:cNvPr>
          <p:cNvSpPr>
            <a:spLocks xmlns:a="http://schemas.openxmlformats.org/drawingml/2006/main" noGrp="1"/>
          </p:cNvSpPr>
          <p:nvPr/>
        </p:nvSpPr>
        <p:spPr>
          <a:xfrm xmlns:a="http://schemas.openxmlformats.org/drawingml/2006/main">
            <a:off x="2876550" y="2295525"/>
            <a:ext cx="9525" cy="9525"/>
          </a:xfrm>
          <a:prstGeom xmlns:a="http://schemas.openxmlformats.org/drawingml/2006/main" prst="rect">
            <a:avLst/>
          </a:prstGeom>
          <a:noFill xmlns:a="http://schemas.openxmlformats.org/drawingml/2006/main"/>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E45DB0D3-B148-45A5-A659-1035FE834F71}"/>
              </a:ext>
            </a:extLst>
          </p:cNvPr>
          <p:cNvSpPr>
            <a:spLocks xmlns:a="http://schemas.openxmlformats.org/drawingml/2006/main" noGrp="1"/>
          </p:cNvSpPr>
          <p:nvPr/>
        </p:nvSpPr>
        <p:spPr>
          <a:xfrm xmlns:a="http://schemas.openxmlformats.org/drawingml/2006/main">
            <a:off x="3181350" y="229552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4" name=""/>
          <p:cNvCxnSpPr>
            <a:stCxn xmlns:a="http://schemas.openxmlformats.org/drawingml/2006/main" id="15" idx="3"/>
            <a:endCxn xmlns:a="http://schemas.openxmlformats.org/drawingml/2006/main" id="16" idx="1"/>
          </p:cNvCxnSpPr>
          <p:nvPr/>
        </p:nvCxnSpPr>
        <p:spPr>
          <a:xfrm xmlns:a="http://schemas.openxmlformats.org/drawingml/2006/main">
            <a:off x="2886075" y="2300288"/>
            <a:ext cx="295275" cy="0"/>
          </a:xfrm>
          <a:prstGeom xmlns:a="http://schemas.openxmlformats.org/drawingml/2006/main" prst="straightConnector1">
            <a:avLst/>
          </a:prstGeom>
          <a:ln xmlns:a="http://schemas.openxmlformats.org/drawingml/2006/main" w="19050">
            <a:solidFill>
              <a:srgbClr val="087E60"/>
            </a:solidFill>
            <a:tailEnd type="arrow" w="sm" len="sm"/>
          </a:ln>
        </p:spPr>
      </p:cxnSp>
      <p:sp>
        <p:nvSpPr>
          <p:cNvPr id="18" name="">
            <a:extLst xmlns:a="http://schemas.openxmlformats.org/drawingml/2006/main">
              <a:ext uri="{FF2B5EF4-FFF2-40B4-BE49-F238E27FC236}">
                <a16:creationId xmlns:a16="http://schemas.microsoft.com/office/drawing/2014/main" id="{908B6472-70C1-4ADD-9CC0-9938D04B65FB}"/>
              </a:ext>
            </a:extLst>
          </p:cNvPr>
          <p:cNvSpPr>
            <a:spLocks xmlns:a="http://schemas.openxmlformats.org/drawingml/2006/main" noGrp="1"/>
          </p:cNvSpPr>
          <p:nvPr/>
        </p:nvSpPr>
        <p:spPr>
          <a:xfrm xmlns:a="http://schemas.openxmlformats.org/drawingml/2006/main">
            <a:off x="5905500" y="2790825"/>
            <a:ext cx="9525" cy="9525"/>
          </a:xfrm>
          <a:prstGeom xmlns:a="http://schemas.openxmlformats.org/drawingml/2006/main" prst="rect">
            <a:avLst/>
          </a:prstGeom>
          <a:noFill xmlns:a="http://schemas.openxmlformats.org/drawingml/2006/main"/>
          <a:ln xmlns:a="http://schemas.openxmlformats.org/drawingml/2006/main" w="0">
            <a:noFill/>
          </a:ln>
        </p:spPr>
      </p:sp>
      <p:sp>
        <p:nvSpPr>
          <p:cNvPr id="19" name="">
            <a:extLst xmlns:a="http://schemas.openxmlformats.org/drawingml/2006/main">
              <a:ext uri="{FF2B5EF4-FFF2-40B4-BE49-F238E27FC236}">
                <a16:creationId xmlns:a16="http://schemas.microsoft.com/office/drawing/2014/main" id="{DF454BCA-A4BF-4EEE-B402-4C789446BC1C}"/>
              </a:ext>
            </a:extLst>
          </p:cNvPr>
          <p:cNvSpPr>
            <a:spLocks xmlns:a="http://schemas.openxmlformats.org/drawingml/2006/main" noGrp="1"/>
          </p:cNvSpPr>
          <p:nvPr/>
        </p:nvSpPr>
        <p:spPr>
          <a:xfrm xmlns:a="http://schemas.openxmlformats.org/drawingml/2006/main">
            <a:off x="5905500" y="30765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7" name=""/>
          <p:cNvCxnSpPr>
            <a:stCxn xmlns:a="http://schemas.openxmlformats.org/drawingml/2006/main" id="18" idx="2"/>
            <a:endCxn xmlns:a="http://schemas.openxmlformats.org/drawingml/2006/main" id="19" idx="0"/>
          </p:cNvCxnSpPr>
          <p:nvPr/>
        </p:nvCxnSpPr>
        <p:spPr>
          <a:xfrm xmlns:a="http://schemas.openxmlformats.org/drawingml/2006/main">
            <a:off x="5910263" y="2800350"/>
            <a:ext cx="0" cy="276225"/>
          </a:xfrm>
          <a:prstGeom xmlns:a="http://schemas.openxmlformats.org/drawingml/2006/main" prst="straightConnector1">
            <a:avLst/>
          </a:prstGeom>
          <a:ln xmlns:a="http://schemas.openxmlformats.org/drawingml/2006/main" w="19050">
            <a:solidFill>
              <a:srgbClr val="087E60"/>
            </a:solidFill>
            <a:tailEnd type="arrow" w="sm" len="sm"/>
          </a:ln>
        </p:spPr>
      </p:cxnSp>
      <p:sp>
        <p:nvSpPr>
          <p:cNvPr id="21" name="">
            <a:extLst xmlns:a="http://schemas.openxmlformats.org/drawingml/2006/main">
              <a:ext uri="{FF2B5EF4-FFF2-40B4-BE49-F238E27FC236}">
                <a16:creationId xmlns:a16="http://schemas.microsoft.com/office/drawing/2014/main" id="{8230CF48-3DBC-4FFB-B30D-1FE4CDE442D9}"/>
              </a:ext>
            </a:extLst>
          </p:cNvPr>
          <p:cNvSpPr>
            <a:spLocks xmlns:a="http://schemas.openxmlformats.org/drawingml/2006/main" noGrp="1"/>
          </p:cNvSpPr>
          <p:nvPr/>
        </p:nvSpPr>
        <p:spPr>
          <a:xfrm xmlns:a="http://schemas.openxmlformats.org/drawingml/2006/main">
            <a:off x="10334625" y="3076575"/>
            <a:ext cx="9525" cy="9525"/>
          </a:xfrm>
          <a:prstGeom xmlns:a="http://schemas.openxmlformats.org/drawingml/2006/main" prst="rect">
            <a:avLst/>
          </a:prstGeom>
          <a:noFill xmlns:a="http://schemas.openxmlformats.org/drawingml/2006/main"/>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625C64DE-F774-4480-B4BA-C029A15C0458}"/>
              </a:ext>
            </a:extLst>
          </p:cNvPr>
          <p:cNvSpPr>
            <a:spLocks xmlns:a="http://schemas.openxmlformats.org/drawingml/2006/main" noGrp="1"/>
          </p:cNvSpPr>
          <p:nvPr/>
        </p:nvSpPr>
        <p:spPr>
          <a:xfrm xmlns:a="http://schemas.openxmlformats.org/drawingml/2006/main">
            <a:off x="10334625" y="28003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90" name=""/>
          <p:cNvCxnSpPr>
            <a:stCxn xmlns:a="http://schemas.openxmlformats.org/drawingml/2006/main" id="21" idx="0"/>
            <a:endCxn xmlns:a="http://schemas.openxmlformats.org/drawingml/2006/main" id="22" idx="2"/>
          </p:cNvCxnSpPr>
          <p:nvPr/>
        </p:nvCxnSpPr>
        <p:spPr>
          <a:xfrm xmlns:a="http://schemas.openxmlformats.org/drawingml/2006/main" flipV="1">
            <a:off x="10339388" y="2809875"/>
            <a:ext cx="0" cy="266700"/>
          </a:xfrm>
          <a:prstGeom xmlns:a="http://schemas.openxmlformats.org/drawingml/2006/main" prst="straightConnector1">
            <a:avLst/>
          </a:prstGeom>
          <a:ln xmlns:a="http://schemas.openxmlformats.org/drawingml/2006/main" w="19050">
            <a:solidFill>
              <a:srgbClr val="087E60"/>
            </a:solidFill>
            <a:tailEnd type="arrow" w="sm" len="sm"/>
          </a:ln>
        </p:spPr>
      </p:cxnSp>
      <p:sp>
        <p:nvSpPr>
          <p:cNvPr id="24" name="">
            <a:extLst xmlns:a="http://schemas.openxmlformats.org/drawingml/2006/main">
              <a:ext uri="{FF2B5EF4-FFF2-40B4-BE49-F238E27FC236}">
                <a16:creationId xmlns:a16="http://schemas.microsoft.com/office/drawing/2014/main" id="{E0BF98C5-8FBE-4B04-856A-FF2164458AD4}"/>
              </a:ext>
            </a:extLst>
          </p:cNvPr>
          <p:cNvSpPr>
            <a:spLocks xmlns:a="http://schemas.openxmlformats.org/drawingml/2006/main" noGrp="1"/>
          </p:cNvSpPr>
          <p:nvPr/>
        </p:nvSpPr>
        <p:spPr>
          <a:xfrm xmlns:a="http://schemas.openxmlformats.org/drawingml/2006/main">
            <a:off x="609600" y="3152775"/>
            <a:ext cx="10972800" cy="1457325"/>
          </a:xfrm>
          <a:prstGeom xmlns:a="http://schemas.openxmlformats.org/drawingml/2006/main" prst="rect">
            <a:avLst/>
          </a:prstGeom>
          <a:solidFill xmlns:a="http://schemas.openxmlformats.org/drawingml/2006/main">
            <a:srgbClr val="EFF5F0"/>
          </a:solidFill>
          <a:ln xmlns:a="http://schemas.openxmlformats.org/drawingml/2006/main" w="9525">
            <a:solidFill>
              <a:srgbClr val="D5E0D9"/>
            </a:solidFill>
          </a:ln>
        </p:spPr>
      </p:sp>
      <p:sp>
        <p:nvSpPr>
          <p:cNvPr id="25" name="">
            <a:extLst xmlns:a="http://schemas.openxmlformats.org/drawingml/2006/main">
              <a:ext uri="{FF2B5EF4-FFF2-40B4-BE49-F238E27FC236}">
                <a16:creationId xmlns:a16="http://schemas.microsoft.com/office/drawing/2014/main" id="{CB431B30-FF97-4DB2-8067-751A287BF295}"/>
              </a:ext>
            </a:extLst>
          </p:cNvPr>
          <p:cNvSpPr>
            <a:spLocks xmlns:a="http://schemas.openxmlformats.org/drawingml/2006/main" noGrp="1"/>
          </p:cNvSpPr>
          <p:nvPr/>
        </p:nvSpPr>
        <p:spPr>
          <a:xfrm xmlns:a="http://schemas.openxmlformats.org/drawingml/2006/main">
            <a:off x="781050" y="3343275"/>
            <a:ext cx="22669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173F36"/>
                </a:solidFill>
                <a:latin typeface="Aptos"/>
                <a:ea typeface="Aptos"/>
                <a:cs typeface="Aptos"/>
              </a:defRPr>
            </a:pPr>
            <a:r>
              <a:rPr sz="2325" b="1">
                <a:solidFill>
                  <a:srgbClr val="173F36"/>
                </a:solidFill>
                <a:latin typeface="Aptos"/>
                <a:ea typeface="Aptos"/>
                <a:cs typeface="Aptos"/>
              </a:rPr>
              <a:t>ETL Orchestrator</a:t>
            </a:r>
          </a:p>
        </p:txBody>
      </p:sp>
      <p:sp>
        <p:nvSpPr>
          <p:cNvPr id="26" name="">
            <a:extLst xmlns:a="http://schemas.openxmlformats.org/drawingml/2006/main">
              <a:ext uri="{FF2B5EF4-FFF2-40B4-BE49-F238E27FC236}">
                <a16:creationId xmlns:a16="http://schemas.microsoft.com/office/drawing/2014/main" id="{44BBF66F-4A2E-42F1-AB2C-EF863CAFC341}"/>
              </a:ext>
            </a:extLst>
          </p:cNvPr>
          <p:cNvSpPr>
            <a:spLocks xmlns:a="http://schemas.openxmlformats.org/drawingml/2006/main" noGrp="1"/>
          </p:cNvSpPr>
          <p:nvPr/>
        </p:nvSpPr>
        <p:spPr>
          <a:xfrm xmlns:a="http://schemas.openxmlformats.org/drawingml/2006/main">
            <a:off x="781050" y="4086225"/>
            <a:ext cx="2190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3675F"/>
                </a:solidFill>
                <a:latin typeface="Aptos"/>
                <a:ea typeface="Aptos"/>
                <a:cs typeface="Aptos"/>
              </a:defRPr>
            </a:pPr>
            <a:r>
              <a:rPr sz="1350" b="0">
                <a:solidFill>
                  <a:srgbClr val="53675F"/>
                </a:solidFill>
                <a:latin typeface="Aptos"/>
                <a:ea typeface="Aptos"/>
                <a:cs typeface="Aptos"/>
              </a:rPr>
              <a:t>Routes • delegates • synthesizes</a:t>
            </a:r>
          </a:p>
        </p:txBody>
      </p:sp>
      <p:sp>
        <p:nvSpPr>
          <p:cNvPr id="27" name="">
            <a:extLst xmlns:a="http://schemas.openxmlformats.org/drawingml/2006/main">
              <a:ext uri="{FF2B5EF4-FFF2-40B4-BE49-F238E27FC236}">
                <a16:creationId xmlns:a16="http://schemas.microsoft.com/office/drawing/2014/main" id="{B0BB071F-3B52-40F0-AB88-F5E7C8D2E58F}"/>
              </a:ext>
            </a:extLst>
          </p:cNvPr>
          <p:cNvSpPr>
            <a:spLocks xmlns:a="http://schemas.openxmlformats.org/drawingml/2006/main" noGrp="1"/>
          </p:cNvSpPr>
          <p:nvPr/>
        </p:nvSpPr>
        <p:spPr>
          <a:xfrm xmlns:a="http://schemas.openxmlformats.org/drawingml/2006/main">
            <a:off x="3257550" y="3438525"/>
            <a:ext cx="152400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D5E0D9"/>
            </a:solidFill>
          </a:ln>
        </p:spPr>
      </p:sp>
      <p:sp>
        <p:nvSpPr>
          <p:cNvPr id="28" name="">
            <a:extLst xmlns:a="http://schemas.openxmlformats.org/drawingml/2006/main">
              <a:ext uri="{FF2B5EF4-FFF2-40B4-BE49-F238E27FC236}">
                <a16:creationId xmlns:a16="http://schemas.microsoft.com/office/drawing/2014/main" id="{3D8A4750-1A20-41F0-B0C3-927F2B0663BB}"/>
              </a:ext>
            </a:extLst>
          </p:cNvPr>
          <p:cNvSpPr>
            <a:spLocks xmlns:a="http://schemas.openxmlformats.org/drawingml/2006/main" noGrp="1"/>
          </p:cNvSpPr>
          <p:nvPr/>
        </p:nvSpPr>
        <p:spPr>
          <a:xfrm xmlns:a="http://schemas.openxmlformats.org/drawingml/2006/main">
            <a:off x="3352800" y="357187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087E60"/>
                </a:solidFill>
                <a:latin typeface="Aptos"/>
                <a:ea typeface="Aptos"/>
                <a:cs typeface="Aptos"/>
              </a:defRPr>
            </a:pPr>
            <a:r>
              <a:rPr sz="1575" b="1">
                <a:solidFill>
                  <a:srgbClr val="087E60"/>
                </a:solidFill>
                <a:latin typeface="Aptos"/>
                <a:ea typeface="Aptos"/>
                <a:cs typeface="Aptos"/>
              </a:rPr>
              <a:t>Implementer</a:t>
            </a:r>
          </a:p>
        </p:txBody>
      </p:sp>
      <p:sp>
        <p:nvSpPr>
          <p:cNvPr id="29" name="">
            <a:extLst xmlns:a="http://schemas.openxmlformats.org/drawingml/2006/main">
              <a:ext uri="{FF2B5EF4-FFF2-40B4-BE49-F238E27FC236}">
                <a16:creationId xmlns:a16="http://schemas.microsoft.com/office/drawing/2014/main" id="{587B07EF-E66E-4DBB-9F74-3F4671E9F32C}"/>
              </a:ext>
            </a:extLst>
          </p:cNvPr>
          <p:cNvSpPr>
            <a:spLocks xmlns:a="http://schemas.openxmlformats.org/drawingml/2006/main" noGrp="1"/>
          </p:cNvSpPr>
          <p:nvPr/>
        </p:nvSpPr>
        <p:spPr>
          <a:xfrm xmlns:a="http://schemas.openxmlformats.org/drawingml/2006/main">
            <a:off x="3352800" y="3905250"/>
            <a:ext cx="133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173F36"/>
                </a:solidFill>
                <a:latin typeface="Aptos"/>
                <a:ea typeface="Aptos"/>
                <a:cs typeface="Aptos"/>
              </a:defRPr>
            </a:pPr>
            <a:r>
              <a:rPr sz="1350" b="0">
                <a:solidFill>
                  <a:srgbClr val="173F36"/>
                </a:solidFill>
                <a:latin typeface="Aptos"/>
                <a:ea typeface="Aptos"/>
                <a:cs typeface="Aptos"/>
              </a:rPr>
              <a:t>Prepare artifacts</a:t>
            </a:r>
          </a:p>
        </p:txBody>
      </p:sp>
      <p:sp>
        <p:nvSpPr>
          <p:cNvPr id="30" name="">
            <a:extLst xmlns:a="http://schemas.openxmlformats.org/drawingml/2006/main">
              <a:ext uri="{FF2B5EF4-FFF2-40B4-BE49-F238E27FC236}">
                <a16:creationId xmlns:a16="http://schemas.microsoft.com/office/drawing/2014/main" id="{CD096415-39A2-46D3-A572-4DA5297A254E}"/>
              </a:ext>
            </a:extLst>
          </p:cNvPr>
          <p:cNvSpPr>
            <a:spLocks xmlns:a="http://schemas.openxmlformats.org/drawingml/2006/main" noGrp="1"/>
          </p:cNvSpPr>
          <p:nvPr/>
        </p:nvSpPr>
        <p:spPr>
          <a:xfrm xmlns:a="http://schemas.openxmlformats.org/drawingml/2006/main">
            <a:off x="4895850" y="3438525"/>
            <a:ext cx="152400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D5E0D9"/>
            </a:solidFill>
          </a:ln>
        </p:spPr>
      </p:sp>
      <p:sp>
        <p:nvSpPr>
          <p:cNvPr id="31" name="">
            <a:extLst xmlns:a="http://schemas.openxmlformats.org/drawingml/2006/main">
              <a:ext uri="{FF2B5EF4-FFF2-40B4-BE49-F238E27FC236}">
                <a16:creationId xmlns:a16="http://schemas.microsoft.com/office/drawing/2014/main" id="{558BE1E9-446C-4EAF-89F5-4019218EC8AC}"/>
              </a:ext>
            </a:extLst>
          </p:cNvPr>
          <p:cNvSpPr>
            <a:spLocks xmlns:a="http://schemas.openxmlformats.org/drawingml/2006/main" noGrp="1"/>
          </p:cNvSpPr>
          <p:nvPr/>
        </p:nvSpPr>
        <p:spPr>
          <a:xfrm xmlns:a="http://schemas.openxmlformats.org/drawingml/2006/main">
            <a:off x="4991100" y="357187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087E60"/>
                </a:solidFill>
                <a:latin typeface="Aptos"/>
                <a:ea typeface="Aptos"/>
                <a:cs typeface="Aptos"/>
              </a:defRPr>
            </a:pPr>
            <a:r>
              <a:rPr sz="1575" b="1">
                <a:solidFill>
                  <a:srgbClr val="087E60"/>
                </a:solidFill>
                <a:latin typeface="Aptos"/>
                <a:ea typeface="Aptos"/>
                <a:cs typeface="Aptos"/>
              </a:rPr>
              <a:t>Verifier</a:t>
            </a:r>
          </a:p>
        </p:txBody>
      </p:sp>
      <p:sp>
        <p:nvSpPr>
          <p:cNvPr id="32" name="">
            <a:extLst xmlns:a="http://schemas.openxmlformats.org/drawingml/2006/main">
              <a:ext uri="{FF2B5EF4-FFF2-40B4-BE49-F238E27FC236}">
                <a16:creationId xmlns:a16="http://schemas.microsoft.com/office/drawing/2014/main" id="{F632033A-AE8B-4C05-8299-E2E944D9BF10}"/>
              </a:ext>
            </a:extLst>
          </p:cNvPr>
          <p:cNvSpPr>
            <a:spLocks xmlns:a="http://schemas.openxmlformats.org/drawingml/2006/main" noGrp="1"/>
          </p:cNvSpPr>
          <p:nvPr/>
        </p:nvSpPr>
        <p:spPr>
          <a:xfrm xmlns:a="http://schemas.openxmlformats.org/drawingml/2006/main">
            <a:off x="4991100" y="3905250"/>
            <a:ext cx="133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173F36"/>
                </a:solidFill>
                <a:latin typeface="Aptos"/>
                <a:ea typeface="Aptos"/>
                <a:cs typeface="Aptos"/>
              </a:defRPr>
            </a:pPr>
            <a:r>
              <a:rPr sz="1350" b="0">
                <a:solidFill>
                  <a:srgbClr val="173F36"/>
                </a:solidFill>
                <a:latin typeface="Aptos"/>
                <a:ea typeface="Aptos"/>
                <a:cs typeface="Aptos"/>
              </a:rPr>
              <a:t>Check independently</a:t>
            </a:r>
          </a:p>
        </p:txBody>
      </p:sp>
      <p:sp>
        <p:nvSpPr>
          <p:cNvPr id="33" name="">
            <a:extLst xmlns:a="http://schemas.openxmlformats.org/drawingml/2006/main">
              <a:ext uri="{FF2B5EF4-FFF2-40B4-BE49-F238E27FC236}">
                <a16:creationId xmlns:a16="http://schemas.microsoft.com/office/drawing/2014/main" id="{F25DF0E8-D08A-4E75-A729-6B2C5F031087}"/>
              </a:ext>
            </a:extLst>
          </p:cNvPr>
          <p:cNvSpPr>
            <a:spLocks xmlns:a="http://schemas.openxmlformats.org/drawingml/2006/main" noGrp="1"/>
          </p:cNvSpPr>
          <p:nvPr/>
        </p:nvSpPr>
        <p:spPr>
          <a:xfrm xmlns:a="http://schemas.openxmlformats.org/drawingml/2006/main">
            <a:off x="6534150" y="3438525"/>
            <a:ext cx="152400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D5E0D9"/>
            </a:solidFill>
          </a:ln>
        </p:spPr>
      </p:sp>
      <p:sp>
        <p:nvSpPr>
          <p:cNvPr id="34" name="">
            <a:extLst xmlns:a="http://schemas.openxmlformats.org/drawingml/2006/main">
              <a:ext uri="{FF2B5EF4-FFF2-40B4-BE49-F238E27FC236}">
                <a16:creationId xmlns:a16="http://schemas.microsoft.com/office/drawing/2014/main" id="{C83E1E9E-5513-4F27-B2DE-E7CDF47A874E}"/>
              </a:ext>
            </a:extLst>
          </p:cNvPr>
          <p:cNvSpPr>
            <a:spLocks xmlns:a="http://schemas.openxmlformats.org/drawingml/2006/main" noGrp="1"/>
          </p:cNvSpPr>
          <p:nvPr/>
        </p:nvSpPr>
        <p:spPr>
          <a:xfrm xmlns:a="http://schemas.openxmlformats.org/drawingml/2006/main">
            <a:off x="6629400" y="357187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87E60"/>
                </a:solidFill>
                <a:latin typeface="Aptos"/>
                <a:ea typeface="Aptos"/>
                <a:cs typeface="Aptos"/>
              </a:defRPr>
            </a:pPr>
            <a:r>
              <a:rPr sz="1350" b="1">
                <a:solidFill>
                  <a:srgbClr val="087E60"/>
                </a:solidFill>
                <a:latin typeface="Aptos"/>
                <a:ea typeface="Aptos"/>
                <a:cs typeface="Aptos"/>
              </a:rPr>
              <a:t>Troubleshooter</a:t>
            </a:r>
          </a:p>
        </p:txBody>
      </p:sp>
      <p:sp>
        <p:nvSpPr>
          <p:cNvPr id="35" name="">
            <a:extLst xmlns:a="http://schemas.openxmlformats.org/drawingml/2006/main">
              <a:ext uri="{FF2B5EF4-FFF2-40B4-BE49-F238E27FC236}">
                <a16:creationId xmlns:a16="http://schemas.microsoft.com/office/drawing/2014/main" id="{7190D707-10FA-4262-9C21-1C9589644E3D}"/>
              </a:ext>
            </a:extLst>
          </p:cNvPr>
          <p:cNvSpPr>
            <a:spLocks xmlns:a="http://schemas.openxmlformats.org/drawingml/2006/main" noGrp="1"/>
          </p:cNvSpPr>
          <p:nvPr/>
        </p:nvSpPr>
        <p:spPr>
          <a:xfrm xmlns:a="http://schemas.openxmlformats.org/drawingml/2006/main">
            <a:off x="6629400" y="3905250"/>
            <a:ext cx="133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173F36"/>
                </a:solidFill>
                <a:latin typeface="Aptos"/>
                <a:ea typeface="Aptos"/>
                <a:cs typeface="Aptos"/>
              </a:defRPr>
            </a:pPr>
            <a:r>
              <a:rPr sz="1350" b="0">
                <a:solidFill>
                  <a:srgbClr val="173F36"/>
                </a:solidFill>
                <a:latin typeface="Aptos"/>
                <a:ea typeface="Aptos"/>
                <a:cs typeface="Aptos"/>
              </a:rPr>
              <a:t>Diagnose runtime</a:t>
            </a:r>
          </a:p>
        </p:txBody>
      </p:sp>
      <p:sp>
        <p:nvSpPr>
          <p:cNvPr id="36" name="">
            <a:extLst xmlns:a="http://schemas.openxmlformats.org/drawingml/2006/main">
              <a:ext uri="{FF2B5EF4-FFF2-40B4-BE49-F238E27FC236}">
                <a16:creationId xmlns:a16="http://schemas.microsoft.com/office/drawing/2014/main" id="{363B6C6A-1739-42B9-BE3A-4E65E3B940F7}"/>
              </a:ext>
            </a:extLst>
          </p:cNvPr>
          <p:cNvSpPr>
            <a:spLocks xmlns:a="http://schemas.openxmlformats.org/drawingml/2006/main" noGrp="1"/>
          </p:cNvSpPr>
          <p:nvPr/>
        </p:nvSpPr>
        <p:spPr>
          <a:xfrm xmlns:a="http://schemas.openxmlformats.org/drawingml/2006/main">
            <a:off x="8172450" y="3438525"/>
            <a:ext cx="152400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D5E0D9"/>
            </a:solidFill>
          </a:ln>
        </p:spPr>
      </p:sp>
      <p:sp>
        <p:nvSpPr>
          <p:cNvPr id="37" name="">
            <a:extLst xmlns:a="http://schemas.openxmlformats.org/drawingml/2006/main">
              <a:ext uri="{FF2B5EF4-FFF2-40B4-BE49-F238E27FC236}">
                <a16:creationId xmlns:a16="http://schemas.microsoft.com/office/drawing/2014/main" id="{A4E67205-652E-487C-8E9E-65945865423B}"/>
              </a:ext>
            </a:extLst>
          </p:cNvPr>
          <p:cNvSpPr>
            <a:spLocks xmlns:a="http://schemas.openxmlformats.org/drawingml/2006/main" noGrp="1"/>
          </p:cNvSpPr>
          <p:nvPr/>
        </p:nvSpPr>
        <p:spPr>
          <a:xfrm xmlns:a="http://schemas.openxmlformats.org/drawingml/2006/main">
            <a:off x="8267700" y="357187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087E60"/>
                </a:solidFill>
                <a:latin typeface="Aptos"/>
                <a:ea typeface="Aptos"/>
                <a:cs typeface="Aptos"/>
              </a:defRPr>
            </a:pPr>
            <a:r>
              <a:rPr sz="1575" b="1">
                <a:solidFill>
                  <a:srgbClr val="087E60"/>
                </a:solidFill>
                <a:latin typeface="Aptos"/>
                <a:ea typeface="Aptos"/>
                <a:cs typeface="Aptos"/>
              </a:rPr>
              <a:t>Researcher</a:t>
            </a:r>
          </a:p>
        </p:txBody>
      </p:sp>
      <p:sp>
        <p:nvSpPr>
          <p:cNvPr id="38" name="">
            <a:extLst xmlns:a="http://schemas.openxmlformats.org/drawingml/2006/main">
              <a:ext uri="{FF2B5EF4-FFF2-40B4-BE49-F238E27FC236}">
                <a16:creationId xmlns:a16="http://schemas.microsoft.com/office/drawing/2014/main" id="{F35D2B51-D7D7-465F-8BEC-E9026933AC9D}"/>
              </a:ext>
            </a:extLst>
          </p:cNvPr>
          <p:cNvSpPr>
            <a:spLocks xmlns:a="http://schemas.openxmlformats.org/drawingml/2006/main" noGrp="1"/>
          </p:cNvSpPr>
          <p:nvPr/>
        </p:nvSpPr>
        <p:spPr>
          <a:xfrm xmlns:a="http://schemas.openxmlformats.org/drawingml/2006/main">
            <a:off x="8267700" y="3905250"/>
            <a:ext cx="133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173F36"/>
                </a:solidFill>
                <a:latin typeface="Aptos"/>
                <a:ea typeface="Aptos"/>
                <a:cs typeface="Aptos"/>
              </a:defRPr>
            </a:pPr>
            <a:r>
              <a:rPr sz="1350" b="0">
                <a:solidFill>
                  <a:srgbClr val="173F36"/>
                </a:solidFill>
                <a:latin typeface="Aptos"/>
                <a:ea typeface="Aptos"/>
                <a:cs typeface="Aptos"/>
              </a:rPr>
              <a:t>Find cited evidence</a:t>
            </a:r>
          </a:p>
        </p:txBody>
      </p:sp>
      <p:sp>
        <p:nvSpPr>
          <p:cNvPr id="39" name="">
            <a:extLst xmlns:a="http://schemas.openxmlformats.org/drawingml/2006/main">
              <a:ext uri="{FF2B5EF4-FFF2-40B4-BE49-F238E27FC236}">
                <a16:creationId xmlns:a16="http://schemas.microsoft.com/office/drawing/2014/main" id="{FEA202A6-3016-4FA4-80CF-1CE0BBC530F6}"/>
              </a:ext>
            </a:extLst>
          </p:cNvPr>
          <p:cNvSpPr>
            <a:spLocks xmlns:a="http://schemas.openxmlformats.org/drawingml/2006/main" noGrp="1"/>
          </p:cNvSpPr>
          <p:nvPr/>
        </p:nvSpPr>
        <p:spPr>
          <a:xfrm xmlns:a="http://schemas.openxmlformats.org/drawingml/2006/main">
            <a:off x="9810750" y="3438525"/>
            <a:ext cx="1524000" cy="904875"/>
          </a:xfrm>
          <a:prstGeom xmlns:a="http://schemas.openxmlformats.org/drawingml/2006/main" prst="rect">
            <a:avLst/>
          </a:prstGeom>
          <a:solidFill xmlns:a="http://schemas.openxmlformats.org/drawingml/2006/main">
            <a:srgbClr val="FFFFFF"/>
          </a:solidFill>
          <a:ln xmlns:a="http://schemas.openxmlformats.org/drawingml/2006/main" w="9525">
            <a:solidFill>
              <a:srgbClr val="D5E0D9"/>
            </a:solidFill>
          </a:ln>
        </p:spPr>
      </p:sp>
      <p:sp>
        <p:nvSpPr>
          <p:cNvPr id="40" name="">
            <a:extLst xmlns:a="http://schemas.openxmlformats.org/drawingml/2006/main">
              <a:ext uri="{FF2B5EF4-FFF2-40B4-BE49-F238E27FC236}">
                <a16:creationId xmlns:a16="http://schemas.microsoft.com/office/drawing/2014/main" id="{20B6F6E7-6BE2-4073-855A-25E0FE5F8232}"/>
              </a:ext>
            </a:extLst>
          </p:cNvPr>
          <p:cNvSpPr>
            <a:spLocks xmlns:a="http://schemas.openxmlformats.org/drawingml/2006/main" noGrp="1"/>
          </p:cNvSpPr>
          <p:nvPr/>
        </p:nvSpPr>
        <p:spPr>
          <a:xfrm xmlns:a="http://schemas.openxmlformats.org/drawingml/2006/main">
            <a:off x="9906000" y="3571875"/>
            <a:ext cx="1333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1">
                <a:solidFill>
                  <a:srgbClr val="087E60"/>
                </a:solidFill>
                <a:latin typeface="Aptos"/>
                <a:ea typeface="Aptos"/>
                <a:cs typeface="Aptos"/>
              </a:defRPr>
            </a:pPr>
            <a:r>
              <a:rPr sz="1575" b="1">
                <a:solidFill>
                  <a:srgbClr val="087E60"/>
                </a:solidFill>
                <a:latin typeface="Aptos"/>
                <a:ea typeface="Aptos"/>
                <a:cs typeface="Aptos"/>
              </a:rPr>
              <a:t>Operator</a:t>
            </a:r>
          </a:p>
        </p:txBody>
      </p:sp>
      <p:sp>
        <p:nvSpPr>
          <p:cNvPr id="41" name="">
            <a:extLst xmlns:a="http://schemas.openxmlformats.org/drawingml/2006/main">
              <a:ext uri="{FF2B5EF4-FFF2-40B4-BE49-F238E27FC236}">
                <a16:creationId xmlns:a16="http://schemas.microsoft.com/office/drawing/2014/main" id="{D221B17F-2508-46ED-B964-485822B45E57}"/>
              </a:ext>
            </a:extLst>
          </p:cNvPr>
          <p:cNvSpPr>
            <a:spLocks xmlns:a="http://schemas.openxmlformats.org/drawingml/2006/main" noGrp="1"/>
          </p:cNvSpPr>
          <p:nvPr/>
        </p:nvSpPr>
        <p:spPr>
          <a:xfrm xmlns:a="http://schemas.openxmlformats.org/drawingml/2006/main">
            <a:off x="9906000" y="3905250"/>
            <a:ext cx="133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173F36"/>
                </a:solidFill>
                <a:latin typeface="Aptos"/>
                <a:ea typeface="Aptos"/>
                <a:cs typeface="Aptos"/>
              </a:defRPr>
            </a:pPr>
            <a:r>
              <a:rPr sz="1350" b="0">
                <a:solidFill>
                  <a:srgbClr val="173F36"/>
                </a:solidFill>
                <a:latin typeface="Aptos"/>
                <a:ea typeface="Aptos"/>
                <a:cs typeface="Aptos"/>
              </a:rPr>
              <a:t>Approved actions</a:t>
            </a:r>
          </a:p>
        </p:txBody>
      </p:sp>
      <p:sp>
        <p:nvSpPr>
          <p:cNvPr id="42" name="">
            <a:extLst xmlns:a="http://schemas.openxmlformats.org/drawingml/2006/main">
              <a:ext uri="{FF2B5EF4-FFF2-40B4-BE49-F238E27FC236}">
                <a16:creationId xmlns:a16="http://schemas.microsoft.com/office/drawing/2014/main" id="{D7065988-A1C1-484D-948E-A8E2B3AD7735}"/>
              </a:ext>
            </a:extLst>
          </p:cNvPr>
          <p:cNvSpPr>
            <a:spLocks xmlns:a="http://schemas.openxmlformats.org/drawingml/2006/main" noGrp="1"/>
          </p:cNvSpPr>
          <p:nvPr/>
        </p:nvSpPr>
        <p:spPr>
          <a:xfrm xmlns:a="http://schemas.openxmlformats.org/drawingml/2006/main">
            <a:off x="4438650" y="4676775"/>
            <a:ext cx="9525" cy="9525"/>
          </a:xfrm>
          <a:prstGeom xmlns:a="http://schemas.openxmlformats.org/drawingml/2006/main" prst="rect">
            <a:avLst/>
          </a:prstGeom>
          <a:noFill xmlns:a="http://schemas.openxmlformats.org/drawingml/2006/main"/>
          <a:ln xmlns:a="http://schemas.openxmlformats.org/drawingml/2006/main" w="0">
            <a:noFill/>
          </a:ln>
        </p:spPr>
      </p:sp>
      <p:sp>
        <p:nvSpPr>
          <p:cNvPr id="43" name="">
            <a:extLst xmlns:a="http://schemas.openxmlformats.org/drawingml/2006/main">
              <a:ext uri="{FF2B5EF4-FFF2-40B4-BE49-F238E27FC236}">
                <a16:creationId xmlns:a16="http://schemas.microsoft.com/office/drawing/2014/main" id="{A3D1D5A4-69E5-4423-BFFD-EE95F143FA28}"/>
              </a:ext>
            </a:extLst>
          </p:cNvPr>
          <p:cNvSpPr>
            <a:spLocks xmlns:a="http://schemas.openxmlformats.org/drawingml/2006/main" noGrp="1"/>
          </p:cNvSpPr>
          <p:nvPr/>
        </p:nvSpPr>
        <p:spPr>
          <a:xfrm xmlns:a="http://schemas.openxmlformats.org/drawingml/2006/main">
            <a:off x="4438650" y="52101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11" name=""/>
          <p:cNvCxnSpPr>
            <a:stCxn xmlns:a="http://schemas.openxmlformats.org/drawingml/2006/main" id="42" idx="2"/>
            <a:endCxn xmlns:a="http://schemas.openxmlformats.org/drawingml/2006/main" id="43" idx="0"/>
          </p:cNvCxnSpPr>
          <p:nvPr/>
        </p:nvCxnSpPr>
        <p:spPr>
          <a:xfrm xmlns:a="http://schemas.openxmlformats.org/drawingml/2006/main">
            <a:off x="4443413" y="4686300"/>
            <a:ext cx="0" cy="523875"/>
          </a:xfrm>
          <a:prstGeom xmlns:a="http://schemas.openxmlformats.org/drawingml/2006/main" prst="straightConnector1">
            <a:avLst/>
          </a:prstGeom>
          <a:ln xmlns:a="http://schemas.openxmlformats.org/drawingml/2006/main" w="19050">
            <a:solidFill>
              <a:srgbClr val="087E60"/>
            </a:solidFill>
            <a:tailEnd type="arrow" w="sm" len="sm"/>
          </a:ln>
        </p:spPr>
      </p:cxnSp>
      <p:sp>
        <p:nvSpPr>
          <p:cNvPr id="45" name="">
            <a:extLst xmlns:a="http://schemas.openxmlformats.org/drawingml/2006/main">
              <a:ext uri="{FF2B5EF4-FFF2-40B4-BE49-F238E27FC236}">
                <a16:creationId xmlns:a16="http://schemas.microsoft.com/office/drawing/2014/main" id="{4CFF26A5-8CEC-4344-9D8C-23B0D8AB8A6F}"/>
              </a:ext>
            </a:extLst>
          </p:cNvPr>
          <p:cNvSpPr>
            <a:spLocks xmlns:a="http://schemas.openxmlformats.org/drawingml/2006/main" noGrp="1"/>
          </p:cNvSpPr>
          <p:nvPr/>
        </p:nvSpPr>
        <p:spPr>
          <a:xfrm xmlns:a="http://schemas.openxmlformats.org/drawingml/2006/main">
            <a:off x="4600575" y="4848225"/>
            <a:ext cx="17621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3675F"/>
                </a:solidFill>
                <a:latin typeface="Aptos"/>
                <a:ea typeface="Aptos"/>
                <a:cs typeface="Aptos"/>
              </a:defRPr>
            </a:pPr>
            <a:r>
              <a:rPr sz="1350" b="0">
                <a:solidFill>
                  <a:srgbClr val="53675F"/>
                </a:solidFill>
                <a:latin typeface="Aptos"/>
                <a:ea typeface="Aptos"/>
                <a:cs typeface="Aptos"/>
              </a:rPr>
              <a:t>Tool calls</a:t>
            </a:r>
          </a:p>
        </p:txBody>
      </p:sp>
      <p:sp>
        <p:nvSpPr>
          <p:cNvPr id="46" name="">
            <a:extLst xmlns:a="http://schemas.openxmlformats.org/drawingml/2006/main">
              <a:ext uri="{FF2B5EF4-FFF2-40B4-BE49-F238E27FC236}">
                <a16:creationId xmlns:a16="http://schemas.microsoft.com/office/drawing/2014/main" id="{4B0C26C2-1849-4049-93CA-35736A3AE14B}"/>
              </a:ext>
            </a:extLst>
          </p:cNvPr>
          <p:cNvSpPr>
            <a:spLocks xmlns:a="http://schemas.openxmlformats.org/drawingml/2006/main" noGrp="1"/>
          </p:cNvSpPr>
          <p:nvPr/>
        </p:nvSpPr>
        <p:spPr>
          <a:xfrm xmlns:a="http://schemas.openxmlformats.org/drawingml/2006/main">
            <a:off x="8201025" y="5210175"/>
            <a:ext cx="9525" cy="9525"/>
          </a:xfrm>
          <a:prstGeom xmlns:a="http://schemas.openxmlformats.org/drawingml/2006/main" prst="rect">
            <a:avLst/>
          </a:prstGeom>
          <a:noFill xmlns:a="http://schemas.openxmlformats.org/drawingml/2006/main"/>
          <a:ln xmlns:a="http://schemas.openxmlformats.org/drawingml/2006/main" w="0">
            <a:noFill/>
          </a:ln>
        </p:spPr>
      </p:sp>
      <p:sp>
        <p:nvSpPr>
          <p:cNvPr id="47" name="">
            <a:extLst xmlns:a="http://schemas.openxmlformats.org/drawingml/2006/main">
              <a:ext uri="{FF2B5EF4-FFF2-40B4-BE49-F238E27FC236}">
                <a16:creationId xmlns:a16="http://schemas.microsoft.com/office/drawing/2014/main" id="{B4360008-73A0-4735-AB1A-8C5A8BD128FE}"/>
              </a:ext>
            </a:extLst>
          </p:cNvPr>
          <p:cNvSpPr>
            <a:spLocks xmlns:a="http://schemas.openxmlformats.org/drawingml/2006/main" noGrp="1"/>
          </p:cNvSpPr>
          <p:nvPr/>
        </p:nvSpPr>
        <p:spPr>
          <a:xfrm xmlns:a="http://schemas.openxmlformats.org/drawingml/2006/main">
            <a:off x="8201025" y="46767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115" name=""/>
          <p:cNvCxnSpPr>
            <a:stCxn xmlns:a="http://schemas.openxmlformats.org/drawingml/2006/main" id="46" idx="0"/>
            <a:endCxn xmlns:a="http://schemas.openxmlformats.org/drawingml/2006/main" id="47" idx="2"/>
          </p:cNvCxnSpPr>
          <p:nvPr/>
        </p:nvCxnSpPr>
        <p:spPr>
          <a:xfrm xmlns:a="http://schemas.openxmlformats.org/drawingml/2006/main" flipV="1">
            <a:off x="8205788" y="4686300"/>
            <a:ext cx="0" cy="523875"/>
          </a:xfrm>
          <a:prstGeom xmlns:a="http://schemas.openxmlformats.org/drawingml/2006/main" prst="straightConnector1">
            <a:avLst/>
          </a:prstGeom>
          <a:ln xmlns:a="http://schemas.openxmlformats.org/drawingml/2006/main" w="19050">
            <a:solidFill>
              <a:srgbClr val="087E60"/>
            </a:solidFill>
            <a:tailEnd type="arrow" w="sm" len="sm"/>
          </a:ln>
        </p:spPr>
      </p:cxnSp>
      <p:sp>
        <p:nvSpPr>
          <p:cNvPr id="49" name="">
            <a:extLst xmlns:a="http://schemas.openxmlformats.org/drawingml/2006/main">
              <a:ext uri="{FF2B5EF4-FFF2-40B4-BE49-F238E27FC236}">
                <a16:creationId xmlns:a16="http://schemas.microsoft.com/office/drawing/2014/main" id="{EDC43F1B-2591-40B3-BBC9-E0B7460F2F9E}"/>
              </a:ext>
            </a:extLst>
          </p:cNvPr>
          <p:cNvSpPr>
            <a:spLocks xmlns:a="http://schemas.openxmlformats.org/drawingml/2006/main" noGrp="1"/>
          </p:cNvSpPr>
          <p:nvPr/>
        </p:nvSpPr>
        <p:spPr>
          <a:xfrm xmlns:a="http://schemas.openxmlformats.org/drawingml/2006/main">
            <a:off x="8391525" y="4848225"/>
            <a:ext cx="25622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3675F"/>
                </a:solidFill>
                <a:latin typeface="Aptos"/>
                <a:ea typeface="Aptos"/>
                <a:cs typeface="Aptos"/>
              </a:defRPr>
            </a:pPr>
            <a:r>
              <a:rPr sz="1350" b="0">
                <a:solidFill>
                  <a:srgbClr val="53675F"/>
                </a:solidFill>
                <a:latin typeface="Aptos"/>
                <a:ea typeface="Aptos"/>
                <a:cs typeface="Aptos"/>
              </a:rPr>
              <a:t>Evidence / results</a:t>
            </a:r>
          </a:p>
        </p:txBody>
      </p:sp>
      <p:sp>
        <p:nvSpPr>
          <p:cNvPr id="50" name="">
            <a:extLst xmlns:a="http://schemas.openxmlformats.org/drawingml/2006/main">
              <a:ext uri="{FF2B5EF4-FFF2-40B4-BE49-F238E27FC236}">
                <a16:creationId xmlns:a16="http://schemas.microsoft.com/office/drawing/2014/main" id="{BDE6BB7F-9D09-40BC-8832-1F33A8B53F73}"/>
              </a:ext>
            </a:extLst>
          </p:cNvPr>
          <p:cNvSpPr>
            <a:spLocks xmlns:a="http://schemas.openxmlformats.org/drawingml/2006/main" noGrp="1"/>
          </p:cNvSpPr>
          <p:nvPr/>
        </p:nvSpPr>
        <p:spPr>
          <a:xfrm xmlns:a="http://schemas.openxmlformats.org/drawingml/2006/main">
            <a:off x="552450" y="5229225"/>
            <a:ext cx="11087100" cy="876300"/>
          </a:xfrm>
          <a:prstGeom xmlns:a="http://schemas.openxmlformats.org/drawingml/2006/main" prst="rect">
            <a:avLst/>
          </a:prstGeom>
          <a:noFill xmlns:a="http://schemas.openxmlformats.org/drawingml/2006/main"/>
          <a:ln xmlns:a="http://schemas.openxmlformats.org/drawingml/2006/main" w="9525">
            <a:solidFill>
              <a:srgbClr val="D5E0D9"/>
            </a:solidFill>
          </a:ln>
        </p:spPr>
      </p:sp>
      <p:sp>
        <p:nvSpPr>
          <p:cNvPr id="51" name="">
            <a:extLst xmlns:a="http://schemas.openxmlformats.org/drawingml/2006/main">
              <a:ext uri="{FF2B5EF4-FFF2-40B4-BE49-F238E27FC236}">
                <a16:creationId xmlns:a16="http://schemas.microsoft.com/office/drawing/2014/main" id="{D5090143-DF15-4839-BCBA-994A2D6A9776}"/>
              </a:ext>
            </a:extLst>
          </p:cNvPr>
          <p:cNvSpPr>
            <a:spLocks xmlns:a="http://schemas.openxmlformats.org/drawingml/2006/main" noGrp="1"/>
          </p:cNvSpPr>
          <p:nvPr/>
        </p:nvSpPr>
        <p:spPr>
          <a:xfrm xmlns:a="http://schemas.openxmlformats.org/drawingml/2006/main">
            <a:off x="609600" y="5276850"/>
            <a:ext cx="1981200" cy="771525"/>
          </a:xfrm>
          <a:prstGeom xmlns:a="http://schemas.openxmlformats.org/drawingml/2006/main" prst="rect">
            <a:avLst/>
          </a:prstGeom>
          <a:solidFill xmlns:a="http://schemas.openxmlformats.org/drawingml/2006/main">
            <a:srgbClr val="173F36"/>
          </a:solidFill>
          <a:ln xmlns:a="http://schemas.openxmlformats.org/drawingml/2006/main" w="9525">
            <a:solidFill>
              <a:srgbClr val="173F36"/>
            </a:solidFill>
          </a:ln>
        </p:spPr>
      </p:sp>
      <p:sp>
        <p:nvSpPr>
          <p:cNvPr id="52" name="">
            <a:extLst xmlns:a="http://schemas.openxmlformats.org/drawingml/2006/main">
              <a:ext uri="{FF2B5EF4-FFF2-40B4-BE49-F238E27FC236}">
                <a16:creationId xmlns:a16="http://schemas.microsoft.com/office/drawing/2014/main" id="{C30433D2-8250-44D7-835D-0B607BBB234E}"/>
              </a:ext>
            </a:extLst>
          </p:cNvPr>
          <p:cNvSpPr>
            <a:spLocks xmlns:a="http://schemas.openxmlformats.org/drawingml/2006/main" noGrp="1"/>
          </p:cNvSpPr>
          <p:nvPr/>
        </p:nvSpPr>
        <p:spPr>
          <a:xfrm xmlns:a="http://schemas.openxmlformats.org/drawingml/2006/main">
            <a:off x="742950" y="53721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FFFFFF"/>
                </a:solidFill>
                <a:latin typeface="Aptos"/>
                <a:ea typeface="Aptos"/>
                <a:cs typeface="Aptos"/>
              </a:defRPr>
            </a:pPr>
            <a:r>
              <a:rPr sz="1875" b="1">
                <a:solidFill>
                  <a:srgbClr val="FFFFFF"/>
                </a:solidFill>
                <a:latin typeface="Aptos"/>
                <a:ea typeface="Aptos"/>
                <a:cs typeface="Aptos"/>
              </a:rPr>
              <a:t>ETL</a:t>
            </a:r>
          </a:p>
        </p:txBody>
      </p:sp>
      <p:sp>
        <p:nvSpPr>
          <p:cNvPr id="53" name="">
            <a:extLst xmlns:a="http://schemas.openxmlformats.org/drawingml/2006/main">
              <a:ext uri="{FF2B5EF4-FFF2-40B4-BE49-F238E27FC236}">
                <a16:creationId xmlns:a16="http://schemas.microsoft.com/office/drawing/2014/main" id="{2889AF47-C836-4D85-BE3A-6872EDFC05CD}"/>
              </a:ext>
            </a:extLst>
          </p:cNvPr>
          <p:cNvSpPr>
            <a:spLocks xmlns:a="http://schemas.openxmlformats.org/drawingml/2006/main" noGrp="1"/>
          </p:cNvSpPr>
          <p:nvPr/>
        </p:nvSpPr>
        <p:spPr>
          <a:xfrm xmlns:a="http://schemas.openxmlformats.org/drawingml/2006/main">
            <a:off x="742950" y="5753100"/>
            <a:ext cx="1733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C7EC83"/>
                </a:solidFill>
                <a:latin typeface="Aptos"/>
                <a:ea typeface="Aptos"/>
                <a:cs typeface="Aptos"/>
              </a:defRPr>
            </a:pPr>
            <a:r>
              <a:rPr sz="1200" b="0">
                <a:solidFill>
                  <a:srgbClr val="C7EC83"/>
                </a:solidFill>
                <a:latin typeface="Aptos"/>
                <a:ea typeface="Aptos"/>
                <a:cs typeface="Aptos"/>
              </a:rPr>
              <a:t>STTM &amp; config tools</a:t>
            </a:r>
          </a:p>
        </p:txBody>
      </p:sp>
      <p:sp>
        <p:nvSpPr>
          <p:cNvPr id="54" name="">
            <a:extLst xmlns:a="http://schemas.openxmlformats.org/drawingml/2006/main">
              <a:ext uri="{FF2B5EF4-FFF2-40B4-BE49-F238E27FC236}">
                <a16:creationId xmlns:a16="http://schemas.microsoft.com/office/drawing/2014/main" id="{82A3394A-5216-4522-9DA8-A1242831B054}"/>
              </a:ext>
            </a:extLst>
          </p:cNvPr>
          <p:cNvSpPr>
            <a:spLocks xmlns:a="http://schemas.openxmlformats.org/drawingml/2006/main" noGrp="1"/>
          </p:cNvSpPr>
          <p:nvPr/>
        </p:nvSpPr>
        <p:spPr>
          <a:xfrm xmlns:a="http://schemas.openxmlformats.org/drawingml/2006/main">
            <a:off x="2857500" y="5276850"/>
            <a:ext cx="1981200" cy="771525"/>
          </a:xfrm>
          <a:prstGeom xmlns:a="http://schemas.openxmlformats.org/drawingml/2006/main" prst="rect">
            <a:avLst/>
          </a:prstGeom>
          <a:solidFill xmlns:a="http://schemas.openxmlformats.org/drawingml/2006/main">
            <a:srgbClr val="173F36"/>
          </a:solidFill>
          <a:ln xmlns:a="http://schemas.openxmlformats.org/drawingml/2006/main" w="9525">
            <a:solidFill>
              <a:srgbClr val="173F36"/>
            </a:solidFill>
          </a:ln>
        </p:spPr>
      </p:sp>
      <p:sp>
        <p:nvSpPr>
          <p:cNvPr id="55" name="">
            <a:extLst xmlns:a="http://schemas.openxmlformats.org/drawingml/2006/main">
              <a:ext uri="{FF2B5EF4-FFF2-40B4-BE49-F238E27FC236}">
                <a16:creationId xmlns:a16="http://schemas.microsoft.com/office/drawing/2014/main" id="{4D0DC62F-5390-4E14-9F66-49FD1904CAB4}"/>
              </a:ext>
            </a:extLst>
          </p:cNvPr>
          <p:cNvSpPr>
            <a:spLocks xmlns:a="http://schemas.openxmlformats.org/drawingml/2006/main" noGrp="1"/>
          </p:cNvSpPr>
          <p:nvPr/>
        </p:nvSpPr>
        <p:spPr>
          <a:xfrm xmlns:a="http://schemas.openxmlformats.org/drawingml/2006/main">
            <a:off x="2990850" y="53721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FFFFFF"/>
                </a:solidFill>
                <a:latin typeface="Aptos"/>
                <a:ea typeface="Aptos"/>
                <a:cs typeface="Aptos"/>
              </a:defRPr>
            </a:pPr>
            <a:r>
              <a:rPr sz="1875" b="1">
                <a:solidFill>
                  <a:srgbClr val="FFFFFF"/>
                </a:solidFill>
                <a:latin typeface="Aptos"/>
                <a:ea typeface="Aptos"/>
                <a:cs typeface="Aptos"/>
              </a:rPr>
              <a:t>ADF</a:t>
            </a:r>
          </a:p>
        </p:txBody>
      </p:sp>
      <p:sp>
        <p:nvSpPr>
          <p:cNvPr id="56" name="">
            <a:extLst xmlns:a="http://schemas.openxmlformats.org/drawingml/2006/main">
              <a:ext uri="{FF2B5EF4-FFF2-40B4-BE49-F238E27FC236}">
                <a16:creationId xmlns:a16="http://schemas.microsoft.com/office/drawing/2014/main" id="{136B3105-DF79-4B35-ABFA-001E2B5F92B4}"/>
              </a:ext>
            </a:extLst>
          </p:cNvPr>
          <p:cNvSpPr>
            <a:spLocks xmlns:a="http://schemas.openxmlformats.org/drawingml/2006/main" noGrp="1"/>
          </p:cNvSpPr>
          <p:nvPr/>
        </p:nvSpPr>
        <p:spPr>
          <a:xfrm xmlns:a="http://schemas.openxmlformats.org/drawingml/2006/main">
            <a:off x="2990850" y="5753100"/>
            <a:ext cx="1733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C7EC83"/>
                </a:solidFill>
                <a:latin typeface="Aptos"/>
                <a:ea typeface="Aptos"/>
                <a:cs typeface="Aptos"/>
              </a:defRPr>
            </a:pPr>
            <a:r>
              <a:rPr sz="1200" b="0">
                <a:solidFill>
                  <a:srgbClr val="C7EC83"/>
                </a:solidFill>
                <a:latin typeface="Aptos"/>
                <a:ea typeface="Aptos"/>
                <a:cs typeface="Aptos"/>
              </a:rPr>
              <a:t>Pipeline and run tools</a:t>
            </a:r>
          </a:p>
        </p:txBody>
      </p:sp>
      <p:sp>
        <p:nvSpPr>
          <p:cNvPr id="57" name="">
            <a:extLst xmlns:a="http://schemas.openxmlformats.org/drawingml/2006/main">
              <a:ext uri="{FF2B5EF4-FFF2-40B4-BE49-F238E27FC236}">
                <a16:creationId xmlns:a16="http://schemas.microsoft.com/office/drawing/2014/main" id="{E75CB757-31CE-497A-AC2C-3440E649E709}"/>
              </a:ext>
            </a:extLst>
          </p:cNvPr>
          <p:cNvSpPr>
            <a:spLocks xmlns:a="http://schemas.openxmlformats.org/drawingml/2006/main" noGrp="1"/>
          </p:cNvSpPr>
          <p:nvPr/>
        </p:nvSpPr>
        <p:spPr>
          <a:xfrm xmlns:a="http://schemas.openxmlformats.org/drawingml/2006/main">
            <a:off x="5105400" y="5276850"/>
            <a:ext cx="1981200" cy="771525"/>
          </a:xfrm>
          <a:prstGeom xmlns:a="http://schemas.openxmlformats.org/drawingml/2006/main" prst="rect">
            <a:avLst/>
          </a:prstGeom>
          <a:solidFill xmlns:a="http://schemas.openxmlformats.org/drawingml/2006/main">
            <a:srgbClr val="173F36"/>
          </a:solidFill>
          <a:ln xmlns:a="http://schemas.openxmlformats.org/drawingml/2006/main" w="9525">
            <a:solidFill>
              <a:srgbClr val="173F36"/>
            </a:solidFill>
          </a:ln>
        </p:spPr>
      </p:sp>
      <p:sp>
        <p:nvSpPr>
          <p:cNvPr id="58" name="">
            <a:extLst xmlns:a="http://schemas.openxmlformats.org/drawingml/2006/main">
              <a:ext uri="{FF2B5EF4-FFF2-40B4-BE49-F238E27FC236}">
                <a16:creationId xmlns:a16="http://schemas.microsoft.com/office/drawing/2014/main" id="{569AA911-2F4B-4F1A-B3D1-EE20437C79BA}"/>
              </a:ext>
            </a:extLst>
          </p:cNvPr>
          <p:cNvSpPr>
            <a:spLocks xmlns:a="http://schemas.openxmlformats.org/drawingml/2006/main" noGrp="1"/>
          </p:cNvSpPr>
          <p:nvPr/>
        </p:nvSpPr>
        <p:spPr>
          <a:xfrm xmlns:a="http://schemas.openxmlformats.org/drawingml/2006/main">
            <a:off x="5238750" y="53721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FFFFFF"/>
                </a:solidFill>
                <a:latin typeface="Aptos"/>
                <a:ea typeface="Aptos"/>
                <a:cs typeface="Aptos"/>
              </a:defRPr>
            </a:pPr>
            <a:r>
              <a:rPr sz="1875" b="1">
                <a:solidFill>
                  <a:srgbClr val="FFFFFF"/>
                </a:solidFill>
                <a:latin typeface="Aptos"/>
                <a:ea typeface="Aptos"/>
                <a:cs typeface="Aptos"/>
              </a:rPr>
              <a:t>Confluence</a:t>
            </a:r>
          </a:p>
        </p:txBody>
      </p:sp>
      <p:sp>
        <p:nvSpPr>
          <p:cNvPr id="59" name="">
            <a:extLst xmlns:a="http://schemas.openxmlformats.org/drawingml/2006/main">
              <a:ext uri="{FF2B5EF4-FFF2-40B4-BE49-F238E27FC236}">
                <a16:creationId xmlns:a16="http://schemas.microsoft.com/office/drawing/2014/main" id="{7E555948-F8A5-439B-8E6E-96B7DC34156A}"/>
              </a:ext>
            </a:extLst>
          </p:cNvPr>
          <p:cNvSpPr>
            <a:spLocks xmlns:a="http://schemas.openxmlformats.org/drawingml/2006/main" noGrp="1"/>
          </p:cNvSpPr>
          <p:nvPr/>
        </p:nvSpPr>
        <p:spPr>
          <a:xfrm xmlns:a="http://schemas.openxmlformats.org/drawingml/2006/main">
            <a:off x="5238750" y="5753100"/>
            <a:ext cx="1733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C7EC83"/>
                </a:solidFill>
                <a:latin typeface="Aptos"/>
                <a:ea typeface="Aptos"/>
                <a:cs typeface="Aptos"/>
              </a:defRPr>
            </a:pPr>
            <a:r>
              <a:rPr sz="1200" b="0">
                <a:solidFill>
                  <a:srgbClr val="C7EC83"/>
                </a:solidFill>
                <a:latin typeface="Aptos"/>
                <a:ea typeface="Aptos"/>
                <a:cs typeface="Aptos"/>
              </a:rPr>
              <a:t>Reference documents</a:t>
            </a:r>
          </a:p>
        </p:txBody>
      </p:sp>
      <p:sp>
        <p:nvSpPr>
          <p:cNvPr id="60" name="">
            <a:extLst xmlns:a="http://schemas.openxmlformats.org/drawingml/2006/main">
              <a:ext uri="{FF2B5EF4-FFF2-40B4-BE49-F238E27FC236}">
                <a16:creationId xmlns:a16="http://schemas.microsoft.com/office/drawing/2014/main" id="{5E2D3600-083A-46B4-A8C4-7F1575955B07}"/>
              </a:ext>
            </a:extLst>
          </p:cNvPr>
          <p:cNvSpPr>
            <a:spLocks xmlns:a="http://schemas.openxmlformats.org/drawingml/2006/main" noGrp="1"/>
          </p:cNvSpPr>
          <p:nvPr/>
        </p:nvSpPr>
        <p:spPr>
          <a:xfrm xmlns:a="http://schemas.openxmlformats.org/drawingml/2006/main">
            <a:off x="7353300" y="5276850"/>
            <a:ext cx="1981200" cy="771525"/>
          </a:xfrm>
          <a:prstGeom xmlns:a="http://schemas.openxmlformats.org/drawingml/2006/main" prst="rect">
            <a:avLst/>
          </a:prstGeom>
          <a:solidFill xmlns:a="http://schemas.openxmlformats.org/drawingml/2006/main">
            <a:srgbClr val="173F36"/>
          </a:solidFill>
          <a:ln xmlns:a="http://schemas.openxmlformats.org/drawingml/2006/main" w="9525">
            <a:solidFill>
              <a:srgbClr val="173F36"/>
            </a:solidFill>
          </a:ln>
        </p:spPr>
      </p:sp>
      <p:sp>
        <p:nvSpPr>
          <p:cNvPr id="61" name="">
            <a:extLst xmlns:a="http://schemas.openxmlformats.org/drawingml/2006/main">
              <a:ext uri="{FF2B5EF4-FFF2-40B4-BE49-F238E27FC236}">
                <a16:creationId xmlns:a16="http://schemas.microsoft.com/office/drawing/2014/main" id="{AE62E346-A47D-4DFF-8E51-0F32825D97FE}"/>
              </a:ext>
            </a:extLst>
          </p:cNvPr>
          <p:cNvSpPr>
            <a:spLocks xmlns:a="http://schemas.openxmlformats.org/drawingml/2006/main" noGrp="1"/>
          </p:cNvSpPr>
          <p:nvPr/>
        </p:nvSpPr>
        <p:spPr>
          <a:xfrm xmlns:a="http://schemas.openxmlformats.org/drawingml/2006/main">
            <a:off x="7486650" y="53721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FFFFFF"/>
                </a:solidFill>
                <a:latin typeface="Aptos"/>
                <a:ea typeface="Aptos"/>
                <a:cs typeface="Aptos"/>
              </a:defRPr>
            </a:pPr>
            <a:r>
              <a:rPr sz="1875" b="1">
                <a:solidFill>
                  <a:srgbClr val="FFFFFF"/>
                </a:solidFill>
                <a:latin typeface="Aptos"/>
                <a:ea typeface="Aptos"/>
                <a:cs typeface="Aptos"/>
              </a:rPr>
              <a:t>Jira</a:t>
            </a:r>
          </a:p>
        </p:txBody>
      </p:sp>
      <p:sp>
        <p:nvSpPr>
          <p:cNvPr id="62" name="">
            <a:extLst xmlns:a="http://schemas.openxmlformats.org/drawingml/2006/main">
              <a:ext uri="{FF2B5EF4-FFF2-40B4-BE49-F238E27FC236}">
                <a16:creationId xmlns:a16="http://schemas.microsoft.com/office/drawing/2014/main" id="{E9BE2198-300F-433E-AC25-EB0623D2AB60}"/>
              </a:ext>
            </a:extLst>
          </p:cNvPr>
          <p:cNvSpPr>
            <a:spLocks xmlns:a="http://schemas.openxmlformats.org/drawingml/2006/main" noGrp="1"/>
          </p:cNvSpPr>
          <p:nvPr/>
        </p:nvSpPr>
        <p:spPr>
          <a:xfrm xmlns:a="http://schemas.openxmlformats.org/drawingml/2006/main">
            <a:off x="7486650" y="5753100"/>
            <a:ext cx="1733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C7EC83"/>
                </a:solidFill>
                <a:latin typeface="Aptos"/>
                <a:ea typeface="Aptos"/>
                <a:cs typeface="Aptos"/>
              </a:defRPr>
            </a:pPr>
            <a:r>
              <a:rPr sz="1200" b="0">
                <a:solidFill>
                  <a:srgbClr val="C7EC83"/>
                </a:solidFill>
                <a:latin typeface="Aptos"/>
                <a:ea typeface="Aptos"/>
                <a:cs typeface="Aptos"/>
              </a:rPr>
              <a:t>Issues and decisions</a:t>
            </a:r>
          </a:p>
        </p:txBody>
      </p:sp>
      <p:sp>
        <p:nvSpPr>
          <p:cNvPr id="63" name="">
            <a:extLst xmlns:a="http://schemas.openxmlformats.org/drawingml/2006/main">
              <a:ext uri="{FF2B5EF4-FFF2-40B4-BE49-F238E27FC236}">
                <a16:creationId xmlns:a16="http://schemas.microsoft.com/office/drawing/2014/main" id="{B641071C-8DE4-456E-B7FA-E043B29CCB19}"/>
              </a:ext>
            </a:extLst>
          </p:cNvPr>
          <p:cNvSpPr>
            <a:spLocks xmlns:a="http://schemas.openxmlformats.org/drawingml/2006/main" noGrp="1"/>
          </p:cNvSpPr>
          <p:nvPr/>
        </p:nvSpPr>
        <p:spPr>
          <a:xfrm xmlns:a="http://schemas.openxmlformats.org/drawingml/2006/main">
            <a:off x="9601200" y="5276850"/>
            <a:ext cx="1981200" cy="771525"/>
          </a:xfrm>
          <a:prstGeom xmlns:a="http://schemas.openxmlformats.org/drawingml/2006/main" prst="rect">
            <a:avLst/>
          </a:prstGeom>
          <a:solidFill xmlns:a="http://schemas.openxmlformats.org/drawingml/2006/main">
            <a:srgbClr val="173F36"/>
          </a:solidFill>
          <a:ln xmlns:a="http://schemas.openxmlformats.org/drawingml/2006/main" w="9525">
            <a:solidFill>
              <a:srgbClr val="173F36"/>
            </a:solidFill>
          </a:ln>
        </p:spPr>
      </p:sp>
      <p:sp>
        <p:nvSpPr>
          <p:cNvPr id="64" name="">
            <a:extLst xmlns:a="http://schemas.openxmlformats.org/drawingml/2006/main">
              <a:ext uri="{FF2B5EF4-FFF2-40B4-BE49-F238E27FC236}">
                <a16:creationId xmlns:a16="http://schemas.microsoft.com/office/drawing/2014/main" id="{96FB8F49-5EA3-499D-9726-32BE7F71E331}"/>
              </a:ext>
            </a:extLst>
          </p:cNvPr>
          <p:cNvSpPr>
            <a:spLocks xmlns:a="http://schemas.openxmlformats.org/drawingml/2006/main" noGrp="1"/>
          </p:cNvSpPr>
          <p:nvPr/>
        </p:nvSpPr>
        <p:spPr>
          <a:xfrm xmlns:a="http://schemas.openxmlformats.org/drawingml/2006/main">
            <a:off x="9734550" y="5372100"/>
            <a:ext cx="1714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FFFFFF"/>
                </a:solidFill>
                <a:latin typeface="Aptos"/>
                <a:ea typeface="Aptos"/>
                <a:cs typeface="Aptos"/>
              </a:defRPr>
            </a:pPr>
            <a:r>
              <a:rPr sz="1875" b="1">
                <a:solidFill>
                  <a:srgbClr val="FFFFFF"/>
                </a:solidFill>
                <a:latin typeface="Aptos"/>
                <a:ea typeface="Aptos"/>
                <a:cs typeface="Aptos"/>
              </a:rPr>
              <a:t>La Pulga</a:t>
            </a:r>
          </a:p>
        </p:txBody>
      </p:sp>
      <p:sp>
        <p:nvSpPr>
          <p:cNvPr id="65" name="">
            <a:extLst xmlns:a="http://schemas.openxmlformats.org/drawingml/2006/main">
              <a:ext uri="{FF2B5EF4-FFF2-40B4-BE49-F238E27FC236}">
                <a16:creationId xmlns:a16="http://schemas.microsoft.com/office/drawing/2014/main" id="{1915827C-31E1-41E8-BC9A-4D840630DE08}"/>
              </a:ext>
            </a:extLst>
          </p:cNvPr>
          <p:cNvSpPr>
            <a:spLocks xmlns:a="http://schemas.openxmlformats.org/drawingml/2006/main" noGrp="1"/>
          </p:cNvSpPr>
          <p:nvPr/>
        </p:nvSpPr>
        <p:spPr>
          <a:xfrm xmlns:a="http://schemas.openxmlformats.org/drawingml/2006/main">
            <a:off x="9734550" y="5753100"/>
            <a:ext cx="17335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C7EC83"/>
                </a:solidFill>
                <a:latin typeface="Aptos"/>
                <a:ea typeface="Aptos"/>
                <a:cs typeface="Aptos"/>
              </a:defRPr>
            </a:pPr>
            <a:r>
              <a:rPr sz="1200" b="0">
                <a:solidFill>
                  <a:srgbClr val="C7EC83"/>
                </a:solidFill>
                <a:latin typeface="Aptos"/>
                <a:ea typeface="Aptos"/>
                <a:cs typeface="Aptos"/>
              </a:rPr>
              <a:t>Databricks tools</a:t>
            </a:r>
          </a:p>
        </p:txBody>
      </p:sp>
      <p:sp>
        <p:nvSpPr>
          <p:cNvPr id="66" name="">
            <a:extLst xmlns:a="http://schemas.openxmlformats.org/drawingml/2006/main">
              <a:ext uri="{FF2B5EF4-FFF2-40B4-BE49-F238E27FC236}">
                <a16:creationId xmlns:a16="http://schemas.microsoft.com/office/drawing/2014/main" id="{E0C3A6BB-7524-4E38-8F09-BE6DCF883EE7}"/>
              </a:ext>
            </a:extLst>
          </p:cNvPr>
          <p:cNvSpPr>
            <a:spLocks xmlns:a="http://schemas.openxmlformats.org/drawingml/2006/main" noGrp="1"/>
          </p:cNvSpPr>
          <p:nvPr/>
        </p:nvSpPr>
        <p:spPr>
          <a:xfrm xmlns:a="http://schemas.openxmlformats.org/drawingml/2006/main">
            <a:off x="609600" y="64198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3675F"/>
                </a:solidFill>
                <a:latin typeface="Aptos"/>
                <a:ea typeface="Aptos"/>
                <a:cs typeface="Aptos"/>
              </a:defRPr>
            </a:pPr>
            <a:r>
              <a:rPr sz="1125" b="0">
                <a:solidFill>
                  <a:srgbClr val="53675F"/>
                </a:solidFill>
                <a:latin typeface="Aptos"/>
                <a:ea typeface="Aptos"/>
                <a:cs typeface="Aptos"/>
              </a:rPr>
              <a:t>Tool layer: native VS Code tools and connected providers; MCP where configured.</a:t>
            </a:r>
          </a:p>
        </p:txBody>
      </p:sp>
      <p:sp>
        <p:nvSpPr>
          <p:cNvPr id="67" name="">
            <a:extLst xmlns:a="http://schemas.openxmlformats.org/drawingml/2006/main">
              <a:ext uri="{FF2B5EF4-FFF2-40B4-BE49-F238E27FC236}">
                <a16:creationId xmlns:a16="http://schemas.microsoft.com/office/drawing/2014/main" id="{3B3DE507-2263-45BE-8358-6F513484B67C}"/>
              </a:ext>
            </a:extLst>
          </p:cNvPr>
          <p:cNvSpPr>
            <a:spLocks xmlns:a="http://schemas.openxmlformats.org/drawingml/2006/main" noGrp="1"/>
          </p:cNvSpPr>
          <p:nvPr/>
        </p:nvSpPr>
        <p:spPr>
          <a:xfrm xmlns:a="http://schemas.openxmlformats.org/drawingml/2006/main">
            <a:off x="11049000" y="64008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1">
                <a:solidFill>
                  <a:srgbClr val="087E60"/>
                </a:solidFill>
                <a:latin typeface="Aptos"/>
                <a:ea typeface="Aptos"/>
                <a:cs typeface="Aptos"/>
              </a:defRPr>
            </a:pPr>
            <a:r>
              <a:rPr sz="1275" b="1">
                <a:solidFill>
                  <a:srgbClr val="087E60"/>
                </a:solidFill>
                <a:latin typeface="Aptos"/>
                <a:ea typeface="Aptos"/>
                <a:cs typeface="Aptos"/>
              </a:rPr>
              <a:t>02</a:t>
            </a:r>
          </a:p>
        </p:txBody>
      </p:sp>
    </p:spTree>
    <p:extLst>
      <p:ext uri="{BB962C8B-B14F-4D97-AF65-F5344CB8AC3E}">
        <p14:creationId xmlns:p14="http://schemas.microsoft.com/office/powerpoint/2010/main" val="65443215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AEE54012-3C61-4D34-9987-A8B3945A05A4}"/>
              </a:ext>
            </a:extLst>
          </p:cNvPr>
          <p:cNvSpPr>
            <a:spLocks xmlns:a="http://schemas.openxmlformats.org/drawingml/2006/main" noGrp="1"/>
          </p:cNvSpPr>
          <p:nvPr/>
        </p:nvSpPr>
        <p:spPr>
          <a:xfrm xmlns:a="http://schemas.openxmlformats.org/drawingml/2006/main">
            <a:off x="609600" y="3810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F36"/>
                </a:solidFill>
                <a:latin typeface="Aptos"/>
                <a:ea typeface="Aptos"/>
                <a:cs typeface="Aptos"/>
              </a:defRPr>
            </a:pPr>
            <a:r>
              <a:rPr sz="3225" b="1">
                <a:solidFill>
                  <a:srgbClr val="173F36"/>
                </a:solidFill>
                <a:latin typeface="Aptos"/>
                <a:ea typeface="Aptos"/>
                <a:cs typeface="Aptos"/>
              </a:rPr>
              <a:t>Inside the tool: from arguments to evidence</a:t>
            </a:r>
          </a:p>
        </p:txBody>
      </p:sp>
      <p:sp>
        <p:nvSpPr>
          <p:cNvPr id="2" name="">
            <a:extLst xmlns:a="http://schemas.openxmlformats.org/drawingml/2006/main">
              <a:ext uri="{FF2B5EF4-FFF2-40B4-BE49-F238E27FC236}">
                <a16:creationId xmlns:a16="http://schemas.microsoft.com/office/drawing/2014/main" id="{5B412EAB-F9CE-4F78-BE02-2AB82545F206}"/>
              </a:ext>
            </a:extLst>
          </p:cNvPr>
          <p:cNvSpPr>
            <a:spLocks xmlns:a="http://schemas.openxmlformats.org/drawingml/2006/main" noGrp="1"/>
          </p:cNvSpPr>
          <p:nvPr/>
        </p:nvSpPr>
        <p:spPr>
          <a:xfrm xmlns:a="http://schemas.openxmlformats.org/drawingml/2006/main">
            <a:off x="609600" y="1047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3675F"/>
                </a:solidFill>
                <a:latin typeface="Aptos"/>
                <a:ea typeface="Aptos"/>
                <a:cs typeface="Aptos"/>
              </a:defRPr>
            </a:pPr>
            <a:r>
              <a:rPr sz="1650" b="0">
                <a:solidFill>
                  <a:srgbClr val="53675F"/>
                </a:solidFill>
                <a:latin typeface="Aptos"/>
                <a:ea typeface="Aptos"/>
                <a:cs typeface="Aptos"/>
              </a:rPr>
              <a:t>An ETL handler resolves inputs, applies product rules and returns facts the agent can use.</a:t>
            </a:r>
          </a:p>
        </p:txBody>
      </p:sp>
      <p:sp>
        <p:nvSpPr>
          <p:cNvPr id="3" name="">
            <a:extLst xmlns:a="http://schemas.openxmlformats.org/drawingml/2006/main">
              <a:ext uri="{FF2B5EF4-FFF2-40B4-BE49-F238E27FC236}">
                <a16:creationId xmlns:a16="http://schemas.microsoft.com/office/drawing/2014/main" id="{B6AAE589-33B0-47B8-A63B-13FDBAC172EB}"/>
              </a:ext>
            </a:extLst>
          </p:cNvPr>
          <p:cNvSpPr>
            <a:spLocks xmlns:a="http://schemas.openxmlformats.org/drawingml/2006/main" noGrp="1"/>
          </p:cNvSpPr>
          <p:nvPr/>
        </p:nvSpPr>
        <p:spPr>
          <a:xfrm xmlns:a="http://schemas.openxmlformats.org/drawingml/2006/main">
            <a:off x="609600" y="1790700"/>
            <a:ext cx="2305050" cy="3305175"/>
          </a:xfrm>
          <a:prstGeom xmlns:a="http://schemas.openxmlformats.org/drawingml/2006/main" prst="rect">
            <a:avLst/>
          </a:prstGeom>
          <a:solidFill xmlns:a="http://schemas.openxmlformats.org/drawingml/2006/main">
            <a:srgbClr val="EFF5F0"/>
          </a:solidFill>
          <a:ln xmlns:a="http://schemas.openxmlformats.org/drawingml/2006/main" w="9525">
            <a:solidFill>
              <a:srgbClr val="D5E0D9"/>
            </a:solidFill>
          </a:ln>
        </p:spPr>
      </p:sp>
      <p:sp>
        <p:nvSpPr>
          <p:cNvPr id="4" name="">
            <a:extLst xmlns:a="http://schemas.openxmlformats.org/drawingml/2006/main">
              <a:ext uri="{FF2B5EF4-FFF2-40B4-BE49-F238E27FC236}">
                <a16:creationId xmlns:a16="http://schemas.microsoft.com/office/drawing/2014/main" id="{A427F0E0-0A5E-4DC1-99FB-1774AE17D01D}"/>
              </a:ext>
            </a:extLst>
          </p:cNvPr>
          <p:cNvSpPr>
            <a:spLocks xmlns:a="http://schemas.openxmlformats.org/drawingml/2006/main" noGrp="1"/>
          </p:cNvSpPr>
          <p:nvPr/>
        </p:nvSpPr>
        <p:spPr>
          <a:xfrm xmlns:a="http://schemas.openxmlformats.org/drawingml/2006/main">
            <a:off x="800100" y="1971675"/>
            <a:ext cx="19145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87E60"/>
                </a:solidFill>
                <a:latin typeface="Aptos"/>
                <a:ea typeface="Aptos"/>
                <a:cs typeface="Aptos"/>
              </a:defRPr>
            </a:pPr>
            <a:r>
              <a:rPr sz="1350" b="1">
                <a:solidFill>
                  <a:srgbClr val="087E60"/>
                </a:solidFill>
                <a:latin typeface="Aptos"/>
                <a:ea typeface="Aptos"/>
                <a:cs typeface="Aptos"/>
              </a:rPr>
              <a:t>INPUTS</a:t>
            </a:r>
          </a:p>
        </p:txBody>
      </p:sp>
      <p:sp>
        <p:nvSpPr>
          <p:cNvPr id="5" name="">
            <a:extLst xmlns:a="http://schemas.openxmlformats.org/drawingml/2006/main">
              <a:ext uri="{FF2B5EF4-FFF2-40B4-BE49-F238E27FC236}">
                <a16:creationId xmlns:a16="http://schemas.microsoft.com/office/drawing/2014/main" id="{BFF22005-1F2F-4F91-963E-069999D552A4}"/>
              </a:ext>
            </a:extLst>
          </p:cNvPr>
          <p:cNvSpPr>
            <a:spLocks xmlns:a="http://schemas.openxmlformats.org/drawingml/2006/main" noGrp="1"/>
          </p:cNvSpPr>
          <p:nvPr/>
        </p:nvSpPr>
        <p:spPr>
          <a:xfrm xmlns:a="http://schemas.openxmlformats.org/drawingml/2006/main">
            <a:off x="800100" y="2381250"/>
            <a:ext cx="19145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1">
                <a:solidFill>
                  <a:srgbClr val="173F36"/>
                </a:solidFill>
                <a:latin typeface="Aptos"/>
                <a:ea typeface="Aptos"/>
                <a:cs typeface="Aptos"/>
              </a:defRPr>
            </a:pPr>
            <a:r>
              <a:rPr sz="2100" b="1">
                <a:solidFill>
                  <a:srgbClr val="173F36"/>
                </a:solidFill>
                <a:latin typeface="Aptos"/>
                <a:ea typeface="Aptos"/>
                <a:cs typeface="Aptos"/>
              </a:rPr>
              <a:t>Exact task context</a:t>
            </a:r>
          </a:p>
        </p:txBody>
      </p:sp>
      <p:sp>
        <p:nvSpPr>
          <p:cNvPr id="6" name="">
            <a:extLst xmlns:a="http://schemas.openxmlformats.org/drawingml/2006/main">
              <a:ext uri="{FF2B5EF4-FFF2-40B4-BE49-F238E27FC236}">
                <a16:creationId xmlns:a16="http://schemas.microsoft.com/office/drawing/2014/main" id="{EC09B339-6FFF-4887-92F7-87698932D132}"/>
              </a:ext>
            </a:extLst>
          </p:cNvPr>
          <p:cNvSpPr>
            <a:spLocks xmlns:a="http://schemas.openxmlformats.org/drawingml/2006/main" noGrp="1"/>
          </p:cNvSpPr>
          <p:nvPr/>
        </p:nvSpPr>
        <p:spPr>
          <a:xfrm xmlns:a="http://schemas.openxmlformats.org/drawingml/2006/main">
            <a:off x="800100" y="3209925"/>
            <a:ext cx="1914525" cy="1581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a:solidFill>
                  <a:srgbClr val="53675F"/>
                </a:solidFill>
                <a:latin typeface="Aptos"/>
                <a:ea typeface="Aptos"/>
                <a:cs typeface="Aptos"/>
              </a:defRPr>
            </a:pPr>
            <a:r>
              <a:rPr sz="1800" b="0">
                <a:solidFill>
                  <a:srgbClr val="53675F"/>
                </a:solidFill>
                <a:latin typeface="Aptos"/>
                <a:ea typeface="Aptos"/>
                <a:cs typeface="Aptos"/>
              </a:rPr>
              <a:t>Selected root</a:t>
            </a:r>
          </a:p>
          <a:p xmlns:a="http://schemas.openxmlformats.org/drawingml/2006/main">
            <a:pPr algn="l">
              <a:defRPr sz="1800" b="0">
                <a:solidFill>
                  <a:srgbClr val="53675F"/>
                </a:solidFill>
                <a:latin typeface="Aptos"/>
                <a:ea typeface="Aptos"/>
                <a:cs typeface="Aptos"/>
              </a:defRPr>
            </a:pPr>
            <a:r>
              <a:rPr sz="1800" b="0">
                <a:solidFill>
                  <a:srgbClr val="53675F"/>
                </a:solidFill>
                <a:latin typeface="Aptos"/>
                <a:ea typeface="Aptos"/>
                <a:cs typeface="Aptos"/>
              </a:rPr>
              <a:t>Tool arguments</a:t>
            </a:r>
          </a:p>
          <a:p xmlns:a="http://schemas.openxmlformats.org/drawingml/2006/main">
            <a:pPr algn="l">
              <a:defRPr sz="1800" b="0">
                <a:solidFill>
                  <a:srgbClr val="53675F"/>
                </a:solidFill>
                <a:latin typeface="Aptos"/>
                <a:ea typeface="Aptos"/>
                <a:cs typeface="Aptos"/>
              </a:defRPr>
            </a:pPr>
            <a:r>
              <a:rPr sz="1800" b="0">
                <a:solidFill>
                  <a:srgbClr val="53675F"/>
                </a:solidFill>
                <a:latin typeface="Aptos"/>
                <a:ea typeface="Aptos"/>
                <a:cs typeface="Aptos"/>
              </a:rPr>
              <a:t>STTM / job / env</a:t>
            </a:r>
          </a:p>
          <a:p xmlns:a="http://schemas.openxmlformats.org/drawingml/2006/main">
            <a:pPr algn="l">
              <a:defRPr sz="1800" b="0">
                <a:solidFill>
                  <a:srgbClr val="53675F"/>
                </a:solidFill>
                <a:latin typeface="Aptos"/>
                <a:ea typeface="Aptos"/>
                <a:cs typeface="Aptos"/>
              </a:defRPr>
            </a:pPr>
            <a:r>
              <a:rPr sz="1800" b="0">
                <a:solidFill>
                  <a:srgbClr val="53675F"/>
                </a:solidFill>
                <a:latin typeface="Aptos"/>
                <a:ea typeface="Aptos"/>
                <a:cs typeface="Aptos"/>
              </a:rPr>
              <a:t>Provider evidence</a:t>
            </a:r>
          </a:p>
        </p:txBody>
      </p:sp>
      <p:sp>
        <p:nvSpPr>
          <p:cNvPr id="7" name="">
            <a:extLst xmlns:a="http://schemas.openxmlformats.org/drawingml/2006/main">
              <a:ext uri="{FF2B5EF4-FFF2-40B4-BE49-F238E27FC236}">
                <a16:creationId xmlns:a16="http://schemas.microsoft.com/office/drawing/2014/main" id="{6ABCCEF1-75A3-4AEF-A8A9-F40CCFE57358}"/>
              </a:ext>
            </a:extLst>
          </p:cNvPr>
          <p:cNvSpPr>
            <a:spLocks xmlns:a="http://schemas.openxmlformats.org/drawingml/2006/main" noGrp="1"/>
          </p:cNvSpPr>
          <p:nvPr/>
        </p:nvSpPr>
        <p:spPr>
          <a:xfrm xmlns:a="http://schemas.openxmlformats.org/drawingml/2006/main">
            <a:off x="3352800" y="1790700"/>
            <a:ext cx="5153025" cy="733425"/>
          </a:xfrm>
          <a:prstGeom xmlns:a="http://schemas.openxmlformats.org/drawingml/2006/main" prst="rect">
            <a:avLst/>
          </a:prstGeom>
          <a:solidFill xmlns:a="http://schemas.openxmlformats.org/drawingml/2006/main">
            <a:srgbClr val="EFF5F0"/>
          </a:solidFill>
          <a:ln xmlns:a="http://schemas.openxmlformats.org/drawingml/2006/main" w="9525">
            <a:solidFill>
              <a:srgbClr val="D5E0D9"/>
            </a:solidFill>
          </a:ln>
        </p:spPr>
      </p:sp>
      <p:sp>
        <p:nvSpPr>
          <p:cNvPr id="8" name="">
            <a:extLst xmlns:a="http://schemas.openxmlformats.org/drawingml/2006/main">
              <a:ext uri="{FF2B5EF4-FFF2-40B4-BE49-F238E27FC236}">
                <a16:creationId xmlns:a16="http://schemas.microsoft.com/office/drawing/2014/main" id="{357EBD71-5C85-4D4E-B546-583E30E3E465}"/>
              </a:ext>
            </a:extLst>
          </p:cNvPr>
          <p:cNvSpPr>
            <a:spLocks xmlns:a="http://schemas.openxmlformats.org/drawingml/2006/main" noGrp="1"/>
          </p:cNvSpPr>
          <p:nvPr/>
        </p:nvSpPr>
        <p:spPr>
          <a:xfrm xmlns:a="http://schemas.openxmlformats.org/drawingml/2006/main">
            <a:off x="3533775" y="1866900"/>
            <a:ext cx="4800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3F36"/>
                </a:solidFill>
                <a:latin typeface="Aptos"/>
                <a:ea typeface="Aptos"/>
                <a:cs typeface="Aptos"/>
              </a:defRPr>
            </a:pPr>
            <a:r>
              <a:rPr sz="1875" b="1">
                <a:solidFill>
                  <a:srgbClr val="173F36"/>
                </a:solidFill>
                <a:latin typeface="Aptos"/>
                <a:ea typeface="Aptos"/>
                <a:cs typeface="Aptos"/>
              </a:rPr>
              <a:t>1  Resolve context</a:t>
            </a:r>
          </a:p>
        </p:txBody>
      </p:sp>
      <p:sp>
        <p:nvSpPr>
          <p:cNvPr id="9" name="">
            <a:extLst xmlns:a="http://schemas.openxmlformats.org/drawingml/2006/main">
              <a:ext uri="{FF2B5EF4-FFF2-40B4-BE49-F238E27FC236}">
                <a16:creationId xmlns:a16="http://schemas.microsoft.com/office/drawing/2014/main" id="{D5C5E2EC-8872-4841-8623-3F934E903C56}"/>
              </a:ext>
            </a:extLst>
          </p:cNvPr>
          <p:cNvSpPr>
            <a:spLocks xmlns:a="http://schemas.openxmlformats.org/drawingml/2006/main" noGrp="1"/>
          </p:cNvSpPr>
          <p:nvPr/>
        </p:nvSpPr>
        <p:spPr>
          <a:xfrm xmlns:a="http://schemas.openxmlformats.org/drawingml/2006/main">
            <a:off x="3533775" y="2238375"/>
            <a:ext cx="480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3675F"/>
                </a:solidFill>
                <a:latin typeface="Aptos"/>
                <a:ea typeface="Aptos"/>
                <a:cs typeface="Aptos"/>
              </a:defRPr>
            </a:pPr>
            <a:r>
              <a:rPr sz="1425" b="0">
                <a:solidFill>
                  <a:srgbClr val="53675F"/>
                </a:solidFill>
                <a:latin typeface="Aptos"/>
                <a:ea typeface="Aptos"/>
                <a:cs typeface="Aptos"/>
              </a:rPr>
              <a:t>Check root, inputs and available capabilities</a:t>
            </a:r>
          </a:p>
        </p:txBody>
      </p:sp>
      <p:sp>
        <p:nvSpPr>
          <p:cNvPr id="10" name="">
            <a:extLst xmlns:a="http://schemas.openxmlformats.org/drawingml/2006/main">
              <a:ext uri="{FF2B5EF4-FFF2-40B4-BE49-F238E27FC236}">
                <a16:creationId xmlns:a16="http://schemas.microsoft.com/office/drawing/2014/main" id="{5F4A6CDA-EF26-4798-8730-BC6DD9F86C21}"/>
              </a:ext>
            </a:extLst>
          </p:cNvPr>
          <p:cNvSpPr>
            <a:spLocks xmlns:a="http://schemas.openxmlformats.org/drawingml/2006/main" noGrp="1"/>
          </p:cNvSpPr>
          <p:nvPr/>
        </p:nvSpPr>
        <p:spPr>
          <a:xfrm xmlns:a="http://schemas.openxmlformats.org/drawingml/2006/main">
            <a:off x="5915025" y="2533650"/>
            <a:ext cx="9525" cy="9525"/>
          </a:xfrm>
          <a:prstGeom xmlns:a="http://schemas.openxmlformats.org/drawingml/2006/main" prst="rect">
            <a:avLst/>
          </a:prstGeom>
          <a:noFill xmlns:a="http://schemas.openxmlformats.org/drawingml/2006/main"/>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733E071D-130A-4343-8093-E72A5346D103}"/>
              </a:ext>
            </a:extLst>
          </p:cNvPr>
          <p:cNvSpPr>
            <a:spLocks xmlns:a="http://schemas.openxmlformats.org/drawingml/2006/main" noGrp="1"/>
          </p:cNvSpPr>
          <p:nvPr/>
        </p:nvSpPr>
        <p:spPr>
          <a:xfrm xmlns:a="http://schemas.openxmlformats.org/drawingml/2006/main">
            <a:off x="5915025" y="26193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59" name=""/>
          <p:cNvCxnSpPr>
            <a:stCxn xmlns:a="http://schemas.openxmlformats.org/drawingml/2006/main" id="10" idx="2"/>
            <a:endCxn xmlns:a="http://schemas.openxmlformats.org/drawingml/2006/main" id="11" idx="0"/>
          </p:cNvCxnSpPr>
          <p:nvPr/>
        </p:nvCxnSpPr>
        <p:spPr>
          <a:xfrm xmlns:a="http://schemas.openxmlformats.org/drawingml/2006/main">
            <a:off x="5919788" y="2543175"/>
            <a:ext cx="0" cy="76200"/>
          </a:xfrm>
          <a:prstGeom xmlns:a="http://schemas.openxmlformats.org/drawingml/2006/main" prst="straightConnector1">
            <a:avLst/>
          </a:prstGeom>
          <a:ln xmlns:a="http://schemas.openxmlformats.org/drawingml/2006/main" w="19050">
            <a:solidFill>
              <a:srgbClr val="087E60"/>
            </a:solidFill>
            <a:tailEnd type="arrow" w="sm" len="sm"/>
          </a:ln>
        </p:spPr>
      </p:cxnSp>
      <p:sp>
        <p:nvSpPr>
          <p:cNvPr id="13" name="">
            <a:extLst xmlns:a="http://schemas.openxmlformats.org/drawingml/2006/main">
              <a:ext uri="{FF2B5EF4-FFF2-40B4-BE49-F238E27FC236}">
                <a16:creationId xmlns:a16="http://schemas.microsoft.com/office/drawing/2014/main" id="{77F8604A-1BCE-4877-91BB-6187C97A75E4}"/>
              </a:ext>
            </a:extLst>
          </p:cNvPr>
          <p:cNvSpPr>
            <a:spLocks xmlns:a="http://schemas.openxmlformats.org/drawingml/2006/main" noGrp="1"/>
          </p:cNvSpPr>
          <p:nvPr/>
        </p:nvSpPr>
        <p:spPr>
          <a:xfrm xmlns:a="http://schemas.openxmlformats.org/drawingml/2006/main">
            <a:off x="3352800" y="2647950"/>
            <a:ext cx="5153025" cy="733425"/>
          </a:xfrm>
          <a:prstGeom xmlns:a="http://schemas.openxmlformats.org/drawingml/2006/main" prst="rect">
            <a:avLst/>
          </a:prstGeom>
          <a:solidFill xmlns:a="http://schemas.openxmlformats.org/drawingml/2006/main">
            <a:srgbClr val="EFF5F0"/>
          </a:solidFill>
          <a:ln xmlns:a="http://schemas.openxmlformats.org/drawingml/2006/main" w="9525">
            <a:solidFill>
              <a:srgbClr val="D5E0D9"/>
            </a:solidFill>
          </a:ln>
        </p:spPr>
      </p:sp>
      <p:sp>
        <p:nvSpPr>
          <p:cNvPr id="14" name="">
            <a:extLst xmlns:a="http://schemas.openxmlformats.org/drawingml/2006/main">
              <a:ext uri="{FF2B5EF4-FFF2-40B4-BE49-F238E27FC236}">
                <a16:creationId xmlns:a16="http://schemas.microsoft.com/office/drawing/2014/main" id="{5FD68BE2-8EC9-40D9-8057-B7D94F728068}"/>
              </a:ext>
            </a:extLst>
          </p:cNvPr>
          <p:cNvSpPr>
            <a:spLocks xmlns:a="http://schemas.openxmlformats.org/drawingml/2006/main" noGrp="1"/>
          </p:cNvSpPr>
          <p:nvPr/>
        </p:nvSpPr>
        <p:spPr>
          <a:xfrm xmlns:a="http://schemas.openxmlformats.org/drawingml/2006/main">
            <a:off x="3533775" y="2724150"/>
            <a:ext cx="4800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3F36"/>
                </a:solidFill>
                <a:latin typeface="Aptos"/>
                <a:ea typeface="Aptos"/>
                <a:cs typeface="Aptos"/>
              </a:defRPr>
            </a:pPr>
            <a:r>
              <a:rPr sz="1875" b="1">
                <a:solidFill>
                  <a:srgbClr val="173F36"/>
                </a:solidFill>
                <a:latin typeface="Aptos"/>
                <a:ea typeface="Aptos"/>
                <a:cs typeface="Aptos"/>
              </a:rPr>
              <a:t>2  Parse &amp; connect</a:t>
            </a:r>
          </a:p>
        </p:txBody>
      </p:sp>
      <p:sp>
        <p:nvSpPr>
          <p:cNvPr id="15" name="">
            <a:extLst xmlns:a="http://schemas.openxmlformats.org/drawingml/2006/main">
              <a:ext uri="{FF2B5EF4-FFF2-40B4-BE49-F238E27FC236}">
                <a16:creationId xmlns:a16="http://schemas.microsoft.com/office/drawing/2014/main" id="{C851839F-18AC-46B1-9079-C6DE9D7F9AA3}"/>
              </a:ext>
            </a:extLst>
          </p:cNvPr>
          <p:cNvSpPr>
            <a:spLocks xmlns:a="http://schemas.openxmlformats.org/drawingml/2006/main" noGrp="1"/>
          </p:cNvSpPr>
          <p:nvPr/>
        </p:nvSpPr>
        <p:spPr>
          <a:xfrm xmlns:a="http://schemas.openxmlformats.org/drawingml/2006/main">
            <a:off x="3533775" y="3095625"/>
            <a:ext cx="480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3675F"/>
                </a:solidFill>
                <a:latin typeface="Aptos"/>
                <a:ea typeface="Aptos"/>
                <a:cs typeface="Aptos"/>
              </a:defRPr>
            </a:pPr>
            <a:r>
              <a:rPr sz="1425" b="0">
                <a:solidFill>
                  <a:srgbClr val="53675F"/>
                </a:solidFill>
                <a:latin typeface="Aptos"/>
                <a:ea typeface="Aptos"/>
                <a:cs typeface="Aptos"/>
              </a:rPr>
              <a:t>Read STTM; resolve mappings, rules and includes</a:t>
            </a:r>
          </a:p>
        </p:txBody>
      </p:sp>
      <p:sp>
        <p:nvSpPr>
          <p:cNvPr id="16" name="">
            <a:extLst xmlns:a="http://schemas.openxmlformats.org/drawingml/2006/main">
              <a:ext uri="{FF2B5EF4-FFF2-40B4-BE49-F238E27FC236}">
                <a16:creationId xmlns:a16="http://schemas.microsoft.com/office/drawing/2014/main" id="{CA9697C1-A3C3-4BDB-B691-66CC06B43620}"/>
              </a:ext>
            </a:extLst>
          </p:cNvPr>
          <p:cNvSpPr>
            <a:spLocks xmlns:a="http://schemas.openxmlformats.org/drawingml/2006/main" noGrp="1"/>
          </p:cNvSpPr>
          <p:nvPr/>
        </p:nvSpPr>
        <p:spPr>
          <a:xfrm xmlns:a="http://schemas.openxmlformats.org/drawingml/2006/main">
            <a:off x="5915025" y="3390900"/>
            <a:ext cx="9525" cy="9525"/>
          </a:xfrm>
          <a:prstGeom xmlns:a="http://schemas.openxmlformats.org/drawingml/2006/main" prst="rect">
            <a:avLst/>
          </a:prstGeom>
          <a:noFill xmlns:a="http://schemas.openxmlformats.org/drawingml/2006/main"/>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87DD24B2-5A9D-4FF5-905B-C96FE4682F72}"/>
              </a:ext>
            </a:extLst>
          </p:cNvPr>
          <p:cNvSpPr>
            <a:spLocks xmlns:a="http://schemas.openxmlformats.org/drawingml/2006/main" noGrp="1"/>
          </p:cNvSpPr>
          <p:nvPr/>
        </p:nvSpPr>
        <p:spPr>
          <a:xfrm xmlns:a="http://schemas.openxmlformats.org/drawingml/2006/main">
            <a:off x="5915025" y="347662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5" name=""/>
          <p:cNvCxnSpPr>
            <a:stCxn xmlns:a="http://schemas.openxmlformats.org/drawingml/2006/main" id="16" idx="2"/>
            <a:endCxn xmlns:a="http://schemas.openxmlformats.org/drawingml/2006/main" id="17" idx="0"/>
          </p:cNvCxnSpPr>
          <p:nvPr/>
        </p:nvCxnSpPr>
        <p:spPr>
          <a:xfrm xmlns:a="http://schemas.openxmlformats.org/drawingml/2006/main">
            <a:off x="5919788" y="3400425"/>
            <a:ext cx="0" cy="76200"/>
          </a:xfrm>
          <a:prstGeom xmlns:a="http://schemas.openxmlformats.org/drawingml/2006/main" prst="straightConnector1">
            <a:avLst/>
          </a:prstGeom>
          <a:ln xmlns:a="http://schemas.openxmlformats.org/drawingml/2006/main" w="19050">
            <a:solidFill>
              <a:srgbClr val="087E60"/>
            </a:solidFill>
            <a:tailEnd type="arrow" w="sm" len="sm"/>
          </a:ln>
        </p:spPr>
      </p:cxnSp>
      <p:sp>
        <p:nvSpPr>
          <p:cNvPr id="19" name="">
            <a:extLst xmlns:a="http://schemas.openxmlformats.org/drawingml/2006/main">
              <a:ext uri="{FF2B5EF4-FFF2-40B4-BE49-F238E27FC236}">
                <a16:creationId xmlns:a16="http://schemas.microsoft.com/office/drawing/2014/main" id="{F55E3053-1083-490B-8C7E-F20716A169B4}"/>
              </a:ext>
            </a:extLst>
          </p:cNvPr>
          <p:cNvSpPr>
            <a:spLocks xmlns:a="http://schemas.openxmlformats.org/drawingml/2006/main" noGrp="1"/>
          </p:cNvSpPr>
          <p:nvPr/>
        </p:nvSpPr>
        <p:spPr>
          <a:xfrm xmlns:a="http://schemas.openxmlformats.org/drawingml/2006/main">
            <a:off x="3352800" y="3505200"/>
            <a:ext cx="5153025" cy="733425"/>
          </a:xfrm>
          <a:prstGeom xmlns:a="http://schemas.openxmlformats.org/drawingml/2006/main" prst="rect">
            <a:avLst/>
          </a:prstGeom>
          <a:solidFill xmlns:a="http://schemas.openxmlformats.org/drawingml/2006/main">
            <a:srgbClr val="EFF5F0"/>
          </a:solidFill>
          <a:ln xmlns:a="http://schemas.openxmlformats.org/drawingml/2006/main" w="9525">
            <a:solidFill>
              <a:srgbClr val="D5E0D9"/>
            </a:solidFill>
          </a:ln>
        </p:spPr>
      </p:sp>
      <p:sp>
        <p:nvSpPr>
          <p:cNvPr id="20" name="">
            <a:extLst xmlns:a="http://schemas.openxmlformats.org/drawingml/2006/main">
              <a:ext uri="{FF2B5EF4-FFF2-40B4-BE49-F238E27FC236}">
                <a16:creationId xmlns:a16="http://schemas.microsoft.com/office/drawing/2014/main" id="{36F20ECC-450A-47DF-823B-3C6F70E5C4E5}"/>
              </a:ext>
            </a:extLst>
          </p:cNvPr>
          <p:cNvSpPr>
            <a:spLocks xmlns:a="http://schemas.openxmlformats.org/drawingml/2006/main" noGrp="1"/>
          </p:cNvSpPr>
          <p:nvPr/>
        </p:nvSpPr>
        <p:spPr>
          <a:xfrm xmlns:a="http://schemas.openxmlformats.org/drawingml/2006/main">
            <a:off x="3533775" y="3581400"/>
            <a:ext cx="4800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3F36"/>
                </a:solidFill>
                <a:latin typeface="Aptos"/>
                <a:ea typeface="Aptos"/>
                <a:cs typeface="Aptos"/>
              </a:defRPr>
            </a:pPr>
            <a:r>
              <a:rPr sz="1875" b="1">
                <a:solidFill>
                  <a:srgbClr val="173F36"/>
                </a:solidFill>
                <a:latin typeface="Aptos"/>
                <a:ea typeface="Aptos"/>
                <a:cs typeface="Aptos"/>
              </a:rPr>
              <a:t>3  Plan &amp; validate</a:t>
            </a:r>
          </a:p>
        </p:txBody>
      </p:sp>
      <p:sp>
        <p:nvSpPr>
          <p:cNvPr id="21" name="">
            <a:extLst xmlns:a="http://schemas.openxmlformats.org/drawingml/2006/main">
              <a:ext uri="{FF2B5EF4-FFF2-40B4-BE49-F238E27FC236}">
                <a16:creationId xmlns:a16="http://schemas.microsoft.com/office/drawing/2014/main" id="{A2451C28-3D33-40CC-ADD0-078363DB3EC3}"/>
              </a:ext>
            </a:extLst>
          </p:cNvPr>
          <p:cNvSpPr>
            <a:spLocks xmlns:a="http://schemas.openxmlformats.org/drawingml/2006/main" noGrp="1"/>
          </p:cNvSpPr>
          <p:nvPr/>
        </p:nvSpPr>
        <p:spPr>
          <a:xfrm xmlns:a="http://schemas.openxmlformats.org/drawingml/2006/main">
            <a:off x="3533775" y="3952875"/>
            <a:ext cx="480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3675F"/>
                </a:solidFill>
                <a:latin typeface="Aptos"/>
                <a:ea typeface="Aptos"/>
                <a:cs typeface="Aptos"/>
              </a:defRPr>
            </a:pPr>
            <a:r>
              <a:rPr sz="1425" b="0">
                <a:solidFill>
                  <a:srgbClr val="53675F"/>
                </a:solidFill>
                <a:latin typeface="Aptos"/>
                <a:ea typeface="Aptos"/>
                <a:cs typeface="Aptos"/>
              </a:rPr>
              <a:t>Choose route; render against trusted contracts</a:t>
            </a:r>
          </a:p>
        </p:txBody>
      </p:sp>
      <p:sp>
        <p:nvSpPr>
          <p:cNvPr id="22" name="">
            <a:extLst xmlns:a="http://schemas.openxmlformats.org/drawingml/2006/main">
              <a:ext uri="{FF2B5EF4-FFF2-40B4-BE49-F238E27FC236}">
                <a16:creationId xmlns:a16="http://schemas.microsoft.com/office/drawing/2014/main" id="{FA7A594D-541E-4A37-8F4B-C49390F99A50}"/>
              </a:ext>
            </a:extLst>
          </p:cNvPr>
          <p:cNvSpPr>
            <a:spLocks xmlns:a="http://schemas.openxmlformats.org/drawingml/2006/main" noGrp="1"/>
          </p:cNvSpPr>
          <p:nvPr/>
        </p:nvSpPr>
        <p:spPr>
          <a:xfrm xmlns:a="http://schemas.openxmlformats.org/drawingml/2006/main">
            <a:off x="5915025" y="4248150"/>
            <a:ext cx="9525" cy="9525"/>
          </a:xfrm>
          <a:prstGeom xmlns:a="http://schemas.openxmlformats.org/drawingml/2006/main" prst="rect">
            <a:avLst/>
          </a:prstGeom>
          <a:noFill xmlns:a="http://schemas.openxmlformats.org/drawingml/2006/main"/>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A0726242-C810-4244-B8F2-00B9FF071718}"/>
              </a:ext>
            </a:extLst>
          </p:cNvPr>
          <p:cNvSpPr>
            <a:spLocks xmlns:a="http://schemas.openxmlformats.org/drawingml/2006/main" noGrp="1"/>
          </p:cNvSpPr>
          <p:nvPr/>
        </p:nvSpPr>
        <p:spPr>
          <a:xfrm xmlns:a="http://schemas.openxmlformats.org/drawingml/2006/main">
            <a:off x="5915025" y="4333875"/>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1" name=""/>
          <p:cNvCxnSpPr>
            <a:stCxn xmlns:a="http://schemas.openxmlformats.org/drawingml/2006/main" id="22" idx="2"/>
            <a:endCxn xmlns:a="http://schemas.openxmlformats.org/drawingml/2006/main" id="23" idx="0"/>
          </p:cNvCxnSpPr>
          <p:nvPr/>
        </p:nvCxnSpPr>
        <p:spPr>
          <a:xfrm xmlns:a="http://schemas.openxmlformats.org/drawingml/2006/main">
            <a:off x="5919788" y="4257675"/>
            <a:ext cx="0" cy="76200"/>
          </a:xfrm>
          <a:prstGeom xmlns:a="http://schemas.openxmlformats.org/drawingml/2006/main" prst="straightConnector1">
            <a:avLst/>
          </a:prstGeom>
          <a:ln xmlns:a="http://schemas.openxmlformats.org/drawingml/2006/main" w="19050">
            <a:solidFill>
              <a:srgbClr val="087E60"/>
            </a:solidFill>
            <a:tailEnd type="arrow" w="sm" len="sm"/>
          </a:ln>
        </p:spPr>
      </p:cxnSp>
      <p:sp>
        <p:nvSpPr>
          <p:cNvPr id="25" name="">
            <a:extLst xmlns:a="http://schemas.openxmlformats.org/drawingml/2006/main">
              <a:ext uri="{FF2B5EF4-FFF2-40B4-BE49-F238E27FC236}">
                <a16:creationId xmlns:a16="http://schemas.microsoft.com/office/drawing/2014/main" id="{04A014CB-7D3F-4BF0-A2B6-4656A0C712CC}"/>
              </a:ext>
            </a:extLst>
          </p:cNvPr>
          <p:cNvSpPr>
            <a:spLocks xmlns:a="http://schemas.openxmlformats.org/drawingml/2006/main" noGrp="1"/>
          </p:cNvSpPr>
          <p:nvPr/>
        </p:nvSpPr>
        <p:spPr>
          <a:xfrm xmlns:a="http://schemas.openxmlformats.org/drawingml/2006/main">
            <a:off x="3352800" y="4362450"/>
            <a:ext cx="5153025" cy="733425"/>
          </a:xfrm>
          <a:prstGeom xmlns:a="http://schemas.openxmlformats.org/drawingml/2006/main" prst="rect">
            <a:avLst/>
          </a:prstGeom>
          <a:solidFill xmlns:a="http://schemas.openxmlformats.org/drawingml/2006/main">
            <a:srgbClr val="173F36"/>
          </a:solidFill>
          <a:ln xmlns:a="http://schemas.openxmlformats.org/drawingml/2006/main" w="9525">
            <a:solidFill>
              <a:srgbClr val="D5E0D9"/>
            </a:solidFill>
          </a:ln>
        </p:spPr>
      </p:sp>
      <p:sp>
        <p:nvSpPr>
          <p:cNvPr id="26" name="">
            <a:extLst xmlns:a="http://schemas.openxmlformats.org/drawingml/2006/main">
              <a:ext uri="{FF2B5EF4-FFF2-40B4-BE49-F238E27FC236}">
                <a16:creationId xmlns:a16="http://schemas.microsoft.com/office/drawing/2014/main" id="{BED5C552-A2BA-48C8-B781-1BF6C6FFDBCE}"/>
              </a:ext>
            </a:extLst>
          </p:cNvPr>
          <p:cNvSpPr>
            <a:spLocks xmlns:a="http://schemas.openxmlformats.org/drawingml/2006/main" noGrp="1"/>
          </p:cNvSpPr>
          <p:nvPr/>
        </p:nvSpPr>
        <p:spPr>
          <a:xfrm xmlns:a="http://schemas.openxmlformats.org/drawingml/2006/main">
            <a:off x="3533775" y="4438650"/>
            <a:ext cx="4800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FFFFFF"/>
                </a:solidFill>
                <a:latin typeface="Aptos"/>
                <a:ea typeface="Aptos"/>
                <a:cs typeface="Aptos"/>
              </a:defRPr>
            </a:pPr>
            <a:r>
              <a:rPr sz="1875" b="1">
                <a:solidFill>
                  <a:srgbClr val="FFFFFF"/>
                </a:solidFill>
                <a:latin typeface="Aptos"/>
                <a:ea typeface="Aptos"/>
                <a:cs typeface="Aptos"/>
              </a:rPr>
              <a:t>4  Return or act</a:t>
            </a:r>
          </a:p>
        </p:txBody>
      </p:sp>
      <p:sp>
        <p:nvSpPr>
          <p:cNvPr id="27" name="">
            <a:extLst xmlns:a="http://schemas.openxmlformats.org/drawingml/2006/main">
              <a:ext uri="{FF2B5EF4-FFF2-40B4-BE49-F238E27FC236}">
                <a16:creationId xmlns:a16="http://schemas.microsoft.com/office/drawing/2014/main" id="{C3109AB4-F6E3-4F9E-93DC-86DBB5BDF644}"/>
              </a:ext>
            </a:extLst>
          </p:cNvPr>
          <p:cNvSpPr>
            <a:spLocks xmlns:a="http://schemas.openxmlformats.org/drawingml/2006/main" noGrp="1"/>
          </p:cNvSpPr>
          <p:nvPr/>
        </p:nvSpPr>
        <p:spPr>
          <a:xfrm xmlns:a="http://schemas.openxmlformats.org/drawingml/2006/main">
            <a:off x="3533775" y="4810125"/>
            <a:ext cx="480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C7EC83"/>
                </a:solidFill>
                <a:latin typeface="Aptos"/>
                <a:ea typeface="Aptos"/>
                <a:cs typeface="Aptos"/>
              </a:defRPr>
            </a:pPr>
            <a:r>
              <a:rPr sz="1425" b="0">
                <a:solidFill>
                  <a:srgbClr val="C7EC83"/>
                </a:solidFill>
                <a:latin typeface="Aptos"/>
                <a:ea typeface="Aptos"/>
                <a:cs typeface="Aptos"/>
              </a:rPr>
              <a:t>Return evidence; apply only an approved action</a:t>
            </a:r>
          </a:p>
        </p:txBody>
      </p:sp>
      <p:sp>
        <p:nvSpPr>
          <p:cNvPr id="28" name="">
            <a:extLst xmlns:a="http://schemas.openxmlformats.org/drawingml/2006/main">
              <a:ext uri="{FF2B5EF4-FFF2-40B4-BE49-F238E27FC236}">
                <a16:creationId xmlns:a16="http://schemas.microsoft.com/office/drawing/2014/main" id="{52BBEC20-9EEA-41BB-B4BF-CA9E43B8B10A}"/>
              </a:ext>
            </a:extLst>
          </p:cNvPr>
          <p:cNvSpPr>
            <a:spLocks xmlns:a="http://schemas.openxmlformats.org/drawingml/2006/main" noGrp="1"/>
          </p:cNvSpPr>
          <p:nvPr/>
        </p:nvSpPr>
        <p:spPr>
          <a:xfrm xmlns:a="http://schemas.openxmlformats.org/drawingml/2006/main">
            <a:off x="2981325" y="3429000"/>
            <a:ext cx="9525" cy="9525"/>
          </a:xfrm>
          <a:prstGeom xmlns:a="http://schemas.openxmlformats.org/drawingml/2006/main" prst="rect">
            <a:avLst/>
          </a:prstGeom>
          <a:noFill xmlns:a="http://schemas.openxmlformats.org/drawingml/2006/main"/>
          <a:ln xmlns:a="http://schemas.openxmlformats.org/drawingml/2006/main" w="0">
            <a:noFill/>
          </a:ln>
        </p:spPr>
      </p:sp>
      <p:sp>
        <p:nvSpPr>
          <p:cNvPr id="29" name="">
            <a:extLst xmlns:a="http://schemas.openxmlformats.org/drawingml/2006/main">
              <a:ext uri="{FF2B5EF4-FFF2-40B4-BE49-F238E27FC236}">
                <a16:creationId xmlns:a16="http://schemas.microsoft.com/office/drawing/2014/main" id="{A5824344-E136-4FEA-855B-2A8BE6FF55B8}"/>
              </a:ext>
            </a:extLst>
          </p:cNvPr>
          <p:cNvSpPr>
            <a:spLocks xmlns:a="http://schemas.openxmlformats.org/drawingml/2006/main" noGrp="1"/>
          </p:cNvSpPr>
          <p:nvPr/>
        </p:nvSpPr>
        <p:spPr>
          <a:xfrm xmlns:a="http://schemas.openxmlformats.org/drawingml/2006/main">
            <a:off x="3276600" y="342900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7" name=""/>
          <p:cNvCxnSpPr>
            <a:stCxn xmlns:a="http://schemas.openxmlformats.org/drawingml/2006/main" id="28" idx="3"/>
            <a:endCxn xmlns:a="http://schemas.openxmlformats.org/drawingml/2006/main" id="29" idx="1"/>
          </p:cNvCxnSpPr>
          <p:nvPr/>
        </p:nvCxnSpPr>
        <p:spPr>
          <a:xfrm xmlns:a="http://schemas.openxmlformats.org/drawingml/2006/main">
            <a:off x="2990850" y="3433763"/>
            <a:ext cx="285750" cy="0"/>
          </a:xfrm>
          <a:prstGeom xmlns:a="http://schemas.openxmlformats.org/drawingml/2006/main" prst="straightConnector1">
            <a:avLst/>
          </a:prstGeom>
          <a:ln xmlns:a="http://schemas.openxmlformats.org/drawingml/2006/main" w="19050">
            <a:solidFill>
              <a:srgbClr val="087E60"/>
            </a:solidFill>
            <a:tailEnd type="arrow" w="sm" len="sm"/>
          </a:ln>
        </p:spPr>
      </p:cxnSp>
      <p:sp>
        <p:nvSpPr>
          <p:cNvPr id="31" name="">
            <a:extLst xmlns:a="http://schemas.openxmlformats.org/drawingml/2006/main">
              <a:ext uri="{FF2B5EF4-FFF2-40B4-BE49-F238E27FC236}">
                <a16:creationId xmlns:a16="http://schemas.microsoft.com/office/drawing/2014/main" id="{5EB7245F-80FC-4949-A1D2-3E822D78B1BC}"/>
              </a:ext>
            </a:extLst>
          </p:cNvPr>
          <p:cNvSpPr>
            <a:spLocks xmlns:a="http://schemas.openxmlformats.org/drawingml/2006/main" noGrp="1"/>
          </p:cNvSpPr>
          <p:nvPr/>
        </p:nvSpPr>
        <p:spPr>
          <a:xfrm xmlns:a="http://schemas.openxmlformats.org/drawingml/2006/main">
            <a:off x="8572500" y="3429000"/>
            <a:ext cx="9525" cy="9525"/>
          </a:xfrm>
          <a:prstGeom xmlns:a="http://schemas.openxmlformats.org/drawingml/2006/main" prst="rect">
            <a:avLst/>
          </a:prstGeom>
          <a:noFill xmlns:a="http://schemas.openxmlformats.org/drawingml/2006/main"/>
          <a:ln xmlns:a="http://schemas.openxmlformats.org/drawingml/2006/main" w="0">
            <a:noFill/>
          </a:ln>
        </p:spPr>
      </p:sp>
      <p:sp>
        <p:nvSpPr>
          <p:cNvPr id="32" name="">
            <a:extLst xmlns:a="http://schemas.openxmlformats.org/drawingml/2006/main">
              <a:ext uri="{FF2B5EF4-FFF2-40B4-BE49-F238E27FC236}">
                <a16:creationId xmlns:a16="http://schemas.microsoft.com/office/drawing/2014/main" id="{BD5E141D-CF71-430C-9A6A-A00EDE2A7CA6}"/>
              </a:ext>
            </a:extLst>
          </p:cNvPr>
          <p:cNvSpPr>
            <a:spLocks xmlns:a="http://schemas.openxmlformats.org/drawingml/2006/main" noGrp="1"/>
          </p:cNvSpPr>
          <p:nvPr/>
        </p:nvSpPr>
        <p:spPr>
          <a:xfrm xmlns:a="http://schemas.openxmlformats.org/drawingml/2006/main">
            <a:off x="8877300" y="342900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80" name=""/>
          <p:cNvCxnSpPr>
            <a:stCxn xmlns:a="http://schemas.openxmlformats.org/drawingml/2006/main" id="31" idx="3"/>
            <a:endCxn xmlns:a="http://schemas.openxmlformats.org/drawingml/2006/main" id="32" idx="1"/>
          </p:cNvCxnSpPr>
          <p:nvPr/>
        </p:nvCxnSpPr>
        <p:spPr>
          <a:xfrm xmlns:a="http://schemas.openxmlformats.org/drawingml/2006/main">
            <a:off x="8582025" y="3433763"/>
            <a:ext cx="295275" cy="0"/>
          </a:xfrm>
          <a:prstGeom xmlns:a="http://schemas.openxmlformats.org/drawingml/2006/main" prst="straightConnector1">
            <a:avLst/>
          </a:prstGeom>
          <a:ln xmlns:a="http://schemas.openxmlformats.org/drawingml/2006/main" w="19050">
            <a:solidFill>
              <a:srgbClr val="087E60"/>
            </a:solidFill>
            <a:tailEnd type="arrow" w="sm" len="sm"/>
          </a:ln>
        </p:spPr>
      </p:cxnSp>
      <p:sp>
        <p:nvSpPr>
          <p:cNvPr id="34" name="">
            <a:extLst xmlns:a="http://schemas.openxmlformats.org/drawingml/2006/main">
              <a:ext uri="{FF2B5EF4-FFF2-40B4-BE49-F238E27FC236}">
                <a16:creationId xmlns:a16="http://schemas.microsoft.com/office/drawing/2014/main" id="{41B21E90-34F3-4477-B051-CAA5ED10E60F}"/>
              </a:ext>
            </a:extLst>
          </p:cNvPr>
          <p:cNvSpPr>
            <a:spLocks xmlns:a="http://schemas.openxmlformats.org/drawingml/2006/main" noGrp="1"/>
          </p:cNvSpPr>
          <p:nvPr/>
        </p:nvSpPr>
        <p:spPr>
          <a:xfrm xmlns:a="http://schemas.openxmlformats.org/drawingml/2006/main">
            <a:off x="8953500" y="1790700"/>
            <a:ext cx="2628900" cy="3305175"/>
          </a:xfrm>
          <a:prstGeom xmlns:a="http://schemas.openxmlformats.org/drawingml/2006/main" prst="rect">
            <a:avLst/>
          </a:prstGeom>
          <a:solidFill xmlns:a="http://schemas.openxmlformats.org/drawingml/2006/main">
            <a:srgbClr val="EFF5F0"/>
          </a:solidFill>
          <a:ln xmlns:a="http://schemas.openxmlformats.org/drawingml/2006/main" w="9525">
            <a:solidFill>
              <a:srgbClr val="D5E0D9"/>
            </a:solidFill>
          </a:ln>
        </p:spPr>
      </p:sp>
      <p:sp>
        <p:nvSpPr>
          <p:cNvPr id="35" name="">
            <a:extLst xmlns:a="http://schemas.openxmlformats.org/drawingml/2006/main">
              <a:ext uri="{FF2B5EF4-FFF2-40B4-BE49-F238E27FC236}">
                <a16:creationId xmlns:a16="http://schemas.microsoft.com/office/drawing/2014/main" id="{BC950E24-7224-4A80-9725-5DBFD4F772C9}"/>
              </a:ext>
            </a:extLst>
          </p:cNvPr>
          <p:cNvSpPr>
            <a:spLocks xmlns:a="http://schemas.openxmlformats.org/drawingml/2006/main" noGrp="1"/>
          </p:cNvSpPr>
          <p:nvPr/>
        </p:nvSpPr>
        <p:spPr>
          <a:xfrm xmlns:a="http://schemas.openxmlformats.org/drawingml/2006/main">
            <a:off x="9144000" y="1971675"/>
            <a:ext cx="2247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87E60"/>
                </a:solidFill>
                <a:latin typeface="Aptos"/>
                <a:ea typeface="Aptos"/>
                <a:cs typeface="Aptos"/>
              </a:defRPr>
            </a:pPr>
            <a:r>
              <a:rPr sz="1350" b="1">
                <a:solidFill>
                  <a:srgbClr val="087E60"/>
                </a:solidFill>
                <a:latin typeface="Aptos"/>
                <a:ea typeface="Aptos"/>
                <a:cs typeface="Aptos"/>
              </a:rPr>
              <a:t>TOOL RESULT</a:t>
            </a:r>
          </a:p>
        </p:txBody>
      </p:sp>
      <p:sp>
        <p:nvSpPr>
          <p:cNvPr id="36" name="">
            <a:extLst xmlns:a="http://schemas.openxmlformats.org/drawingml/2006/main">
              <a:ext uri="{FF2B5EF4-FFF2-40B4-BE49-F238E27FC236}">
                <a16:creationId xmlns:a16="http://schemas.microsoft.com/office/drawing/2014/main" id="{3D80CA7C-A6E5-4611-9A0F-B8BFEB3293A1}"/>
              </a:ext>
            </a:extLst>
          </p:cNvPr>
          <p:cNvSpPr>
            <a:spLocks xmlns:a="http://schemas.openxmlformats.org/drawingml/2006/main" noGrp="1"/>
          </p:cNvSpPr>
          <p:nvPr/>
        </p:nvSpPr>
        <p:spPr>
          <a:xfrm xmlns:a="http://schemas.openxmlformats.org/drawingml/2006/main">
            <a:off x="9144000" y="2371725"/>
            <a:ext cx="2247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173F36"/>
                </a:solidFill>
                <a:latin typeface="Aptos"/>
                <a:ea typeface="Aptos"/>
                <a:cs typeface="Aptos"/>
              </a:defRPr>
            </a:pPr>
            <a:r>
              <a:rPr sz="2175" b="1">
                <a:solidFill>
                  <a:srgbClr val="173F36"/>
                </a:solidFill>
                <a:latin typeface="Aptos"/>
                <a:ea typeface="Aptos"/>
                <a:cs typeface="Aptos"/>
              </a:rPr>
              <a:t>Markdown</a:t>
            </a:r>
          </a:p>
        </p:txBody>
      </p:sp>
      <p:sp>
        <p:nvSpPr>
          <p:cNvPr id="37" name="">
            <a:extLst xmlns:a="http://schemas.openxmlformats.org/drawingml/2006/main">
              <a:ext uri="{FF2B5EF4-FFF2-40B4-BE49-F238E27FC236}">
                <a16:creationId xmlns:a16="http://schemas.microsoft.com/office/drawing/2014/main" id="{D21BF095-33BF-4262-B49B-F0D1CE3E6547}"/>
              </a:ext>
            </a:extLst>
          </p:cNvPr>
          <p:cNvSpPr>
            <a:spLocks xmlns:a="http://schemas.openxmlformats.org/drawingml/2006/main" noGrp="1"/>
          </p:cNvSpPr>
          <p:nvPr/>
        </p:nvSpPr>
        <p:spPr>
          <a:xfrm xmlns:a="http://schemas.openxmlformats.org/drawingml/2006/main">
            <a:off x="9144000" y="2771775"/>
            <a:ext cx="223837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3675F"/>
                </a:solidFill>
                <a:latin typeface="Aptos"/>
                <a:ea typeface="Aptos"/>
                <a:cs typeface="Aptos"/>
              </a:defRPr>
            </a:pPr>
            <a:r>
              <a:rPr sz="1575" b="0">
                <a:solidFill>
                  <a:srgbClr val="53675F"/>
                </a:solidFill>
                <a:latin typeface="Aptos"/>
                <a:ea typeface="Aptos"/>
                <a:cs typeface="Aptos"/>
              </a:rPr>
              <a:t>Readable findings</a:t>
            </a:r>
          </a:p>
        </p:txBody>
      </p:sp>
      <p:sp>
        <p:nvSpPr>
          <p:cNvPr id="38" name="">
            <a:extLst xmlns:a="http://schemas.openxmlformats.org/drawingml/2006/main">
              <a:ext uri="{FF2B5EF4-FFF2-40B4-BE49-F238E27FC236}">
                <a16:creationId xmlns:a16="http://schemas.microsoft.com/office/drawing/2014/main" id="{1FB04AF7-C229-40B4-9D0B-597291004FB8}"/>
              </a:ext>
            </a:extLst>
          </p:cNvPr>
          <p:cNvSpPr>
            <a:spLocks xmlns:a="http://schemas.openxmlformats.org/drawingml/2006/main" noGrp="1"/>
          </p:cNvSpPr>
          <p:nvPr/>
        </p:nvSpPr>
        <p:spPr>
          <a:xfrm xmlns:a="http://schemas.openxmlformats.org/drawingml/2006/main">
            <a:off x="9144000" y="3343275"/>
            <a:ext cx="2238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173F36"/>
                </a:solidFill>
                <a:latin typeface="Aptos"/>
                <a:ea typeface="Aptos"/>
                <a:cs typeface="Aptos"/>
              </a:defRPr>
            </a:pPr>
            <a:r>
              <a:rPr sz="1875" b="1">
                <a:solidFill>
                  <a:srgbClr val="173F36"/>
                </a:solidFill>
                <a:latin typeface="Aptos"/>
                <a:ea typeface="Aptos"/>
                <a:cs typeface="Aptos"/>
              </a:rPr>
              <a:t>Structured JSON</a:t>
            </a:r>
          </a:p>
        </p:txBody>
      </p:sp>
      <p:sp>
        <p:nvSpPr>
          <p:cNvPr id="39" name="">
            <a:extLst xmlns:a="http://schemas.openxmlformats.org/drawingml/2006/main">
              <a:ext uri="{FF2B5EF4-FFF2-40B4-BE49-F238E27FC236}">
                <a16:creationId xmlns:a16="http://schemas.microsoft.com/office/drawing/2014/main" id="{C4264E4C-E2EC-4B11-B398-EEE19F1BB111}"/>
              </a:ext>
            </a:extLst>
          </p:cNvPr>
          <p:cNvSpPr>
            <a:spLocks xmlns:a="http://schemas.openxmlformats.org/drawingml/2006/main" noGrp="1"/>
          </p:cNvSpPr>
          <p:nvPr/>
        </p:nvSpPr>
        <p:spPr>
          <a:xfrm xmlns:a="http://schemas.openxmlformats.org/drawingml/2006/main">
            <a:off x="9144000" y="4048125"/>
            <a:ext cx="223837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a:solidFill>
                  <a:srgbClr val="53675F"/>
                </a:solidFill>
                <a:latin typeface="Aptos"/>
                <a:ea typeface="Aptos"/>
                <a:cs typeface="Aptos"/>
              </a:defRPr>
            </a:pPr>
            <a:r>
              <a:rPr sz="1575" b="0">
                <a:solidFill>
                  <a:srgbClr val="53675F"/>
                </a:solidFill>
                <a:latin typeface="Aptos"/>
                <a:ea typeface="Aptos"/>
                <a:cs typeface="Aptos"/>
              </a:rPr>
              <a:t>Identities and counts</a:t>
            </a:r>
          </a:p>
          <a:p xmlns:a="http://schemas.openxmlformats.org/drawingml/2006/main">
            <a:pPr algn="l">
              <a:defRPr sz="1575" b="0">
                <a:solidFill>
                  <a:srgbClr val="53675F"/>
                </a:solidFill>
                <a:latin typeface="Aptos"/>
                <a:ea typeface="Aptos"/>
                <a:cs typeface="Aptos"/>
              </a:defRPr>
            </a:pPr>
            <a:r>
              <a:rPr sz="1575" b="0">
                <a:solidFill>
                  <a:srgbClr val="53675F"/>
                </a:solidFill>
                <a:latin typeface="Aptos"/>
                <a:ea typeface="Aptos"/>
                <a:cs typeface="Aptos"/>
              </a:rPr>
              <a:t>Diagnostics / provenance</a:t>
            </a:r>
          </a:p>
        </p:txBody>
      </p:sp>
      <p:sp>
        <p:nvSpPr>
          <p:cNvPr id="40" name="">
            <a:extLst xmlns:a="http://schemas.openxmlformats.org/drawingml/2006/main">
              <a:ext uri="{FF2B5EF4-FFF2-40B4-BE49-F238E27FC236}">
                <a16:creationId xmlns:a16="http://schemas.microsoft.com/office/drawing/2014/main" id="{F65D71A7-9A08-4142-8CDC-EAE784BF1582}"/>
              </a:ext>
            </a:extLst>
          </p:cNvPr>
          <p:cNvSpPr>
            <a:spLocks xmlns:a="http://schemas.openxmlformats.org/drawingml/2006/main" noGrp="1"/>
          </p:cNvSpPr>
          <p:nvPr/>
        </p:nvSpPr>
        <p:spPr>
          <a:xfrm xmlns:a="http://schemas.openxmlformats.org/drawingml/2006/main">
            <a:off x="609600" y="5438775"/>
            <a:ext cx="10972800" cy="647700"/>
          </a:xfrm>
          <a:prstGeom xmlns:a="http://schemas.openxmlformats.org/drawingml/2006/main" prst="rect">
            <a:avLst/>
          </a:prstGeom>
          <a:solidFill xmlns:a="http://schemas.openxmlformats.org/drawingml/2006/main">
            <a:srgbClr val="173F36"/>
          </a:solidFill>
          <a:ln xmlns:a="http://schemas.openxmlformats.org/drawingml/2006/main" w="9525">
            <a:solidFill>
              <a:srgbClr val="173F36"/>
            </a:solidFill>
          </a:ln>
        </p:spPr>
      </p:sp>
      <p:sp>
        <p:nvSpPr>
          <p:cNvPr id="41" name="">
            <a:extLst xmlns:a="http://schemas.openxmlformats.org/drawingml/2006/main">
              <a:ext uri="{FF2B5EF4-FFF2-40B4-BE49-F238E27FC236}">
                <a16:creationId xmlns:a16="http://schemas.microsoft.com/office/drawing/2014/main" id="{46267FF6-A066-4773-AF24-3EA005D4A5B7}"/>
              </a:ext>
            </a:extLst>
          </p:cNvPr>
          <p:cNvSpPr>
            <a:spLocks xmlns:a="http://schemas.openxmlformats.org/drawingml/2006/main" noGrp="1"/>
          </p:cNvSpPr>
          <p:nvPr/>
        </p:nvSpPr>
        <p:spPr>
          <a:xfrm xmlns:a="http://schemas.openxmlformats.org/drawingml/2006/main">
            <a:off x="809625" y="5581650"/>
            <a:ext cx="204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FFFFFF"/>
                </a:solidFill>
                <a:latin typeface="Aptos"/>
                <a:ea typeface="Aptos"/>
                <a:cs typeface="Aptos"/>
              </a:defRPr>
            </a:pPr>
            <a:r>
              <a:rPr sz="1950" b="1">
                <a:solidFill>
                  <a:srgbClr val="FFFFFF"/>
                </a:solidFill>
                <a:latin typeface="Aptos"/>
                <a:ea typeface="Aptos"/>
                <a:cs typeface="Aptos"/>
              </a:rPr>
              <a:t>Tool evidence</a:t>
            </a:r>
          </a:p>
        </p:txBody>
      </p:sp>
      <p:sp>
        <p:nvSpPr>
          <p:cNvPr id="42" name="">
            <a:extLst xmlns:a="http://schemas.openxmlformats.org/drawingml/2006/main">
              <a:ext uri="{FF2B5EF4-FFF2-40B4-BE49-F238E27FC236}">
                <a16:creationId xmlns:a16="http://schemas.microsoft.com/office/drawing/2014/main" id="{7CCAE01C-C7F5-4EE2-9023-73AA5BEA36B4}"/>
              </a:ext>
            </a:extLst>
          </p:cNvPr>
          <p:cNvSpPr>
            <a:spLocks xmlns:a="http://schemas.openxmlformats.org/drawingml/2006/main" noGrp="1"/>
          </p:cNvSpPr>
          <p:nvPr/>
        </p:nvSpPr>
        <p:spPr>
          <a:xfrm xmlns:a="http://schemas.openxmlformats.org/drawingml/2006/main">
            <a:off x="2971800" y="5553075"/>
            <a:ext cx="40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7EC83"/>
                </a:solidFill>
                <a:latin typeface="Aptos"/>
                <a:ea typeface="Aptos"/>
                <a:cs typeface="Aptos"/>
              </a:defRPr>
            </a:pPr>
            <a:r>
              <a:rPr sz="2325" b="1">
                <a:solidFill>
                  <a:srgbClr val="C7EC83"/>
                </a:solidFill>
                <a:latin typeface="Aptos"/>
                <a:ea typeface="Aptos"/>
                <a:cs typeface="Aptos"/>
              </a:rPr>
              <a:t>→</a:t>
            </a:r>
          </a:p>
        </p:txBody>
      </p:sp>
      <p:sp>
        <p:nvSpPr>
          <p:cNvPr id="43" name="">
            <a:extLst xmlns:a="http://schemas.openxmlformats.org/drawingml/2006/main">
              <a:ext uri="{FF2B5EF4-FFF2-40B4-BE49-F238E27FC236}">
                <a16:creationId xmlns:a16="http://schemas.microsoft.com/office/drawing/2014/main" id="{0A2C5BAA-2DDA-4A96-AB02-A8EC9751CE03}"/>
              </a:ext>
            </a:extLst>
          </p:cNvPr>
          <p:cNvSpPr>
            <a:spLocks xmlns:a="http://schemas.openxmlformats.org/drawingml/2006/main" noGrp="1"/>
          </p:cNvSpPr>
          <p:nvPr/>
        </p:nvSpPr>
        <p:spPr>
          <a:xfrm xmlns:a="http://schemas.openxmlformats.org/drawingml/2006/main">
            <a:off x="3533775" y="5581650"/>
            <a:ext cx="30765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FFFFFF"/>
                </a:solidFill>
                <a:latin typeface="Aptos"/>
                <a:ea typeface="Aptos"/>
                <a:cs typeface="Aptos"/>
              </a:defRPr>
            </a:pPr>
            <a:r>
              <a:rPr sz="1950" b="1">
                <a:solidFill>
                  <a:srgbClr val="FFFFFF"/>
                </a:solidFill>
                <a:latin typeface="Aptos"/>
                <a:ea typeface="Aptos"/>
                <a:cs typeface="Aptos"/>
              </a:rPr>
              <a:t>Verifier assessment</a:t>
            </a:r>
          </a:p>
        </p:txBody>
      </p:sp>
      <p:sp>
        <p:nvSpPr>
          <p:cNvPr id="44" name="">
            <a:extLst xmlns:a="http://schemas.openxmlformats.org/drawingml/2006/main">
              <a:ext uri="{FF2B5EF4-FFF2-40B4-BE49-F238E27FC236}">
                <a16:creationId xmlns:a16="http://schemas.microsoft.com/office/drawing/2014/main" id="{339FEB92-D990-4549-B03A-27745D00E67C}"/>
              </a:ext>
            </a:extLst>
          </p:cNvPr>
          <p:cNvSpPr>
            <a:spLocks xmlns:a="http://schemas.openxmlformats.org/drawingml/2006/main" noGrp="1"/>
          </p:cNvSpPr>
          <p:nvPr/>
        </p:nvSpPr>
        <p:spPr>
          <a:xfrm xmlns:a="http://schemas.openxmlformats.org/drawingml/2006/main">
            <a:off x="6848475" y="5553075"/>
            <a:ext cx="40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a:solidFill>
                  <a:srgbClr val="C7EC83"/>
                </a:solidFill>
                <a:latin typeface="Aptos"/>
                <a:ea typeface="Aptos"/>
                <a:cs typeface="Aptos"/>
              </a:defRPr>
            </a:pPr>
            <a:r>
              <a:rPr sz="2325" b="1">
                <a:solidFill>
                  <a:srgbClr val="C7EC83"/>
                </a:solidFill>
                <a:latin typeface="Aptos"/>
                <a:ea typeface="Aptos"/>
                <a:cs typeface="Aptos"/>
              </a:rPr>
              <a:t>→</a:t>
            </a:r>
          </a:p>
        </p:txBody>
      </p:sp>
      <p:sp>
        <p:nvSpPr>
          <p:cNvPr id="45" name="">
            <a:extLst xmlns:a="http://schemas.openxmlformats.org/drawingml/2006/main">
              <a:ext uri="{FF2B5EF4-FFF2-40B4-BE49-F238E27FC236}">
                <a16:creationId xmlns:a16="http://schemas.microsoft.com/office/drawing/2014/main" id="{299FBE09-1F20-44A6-A4C2-35C8FE0F3225}"/>
              </a:ext>
            </a:extLst>
          </p:cNvPr>
          <p:cNvSpPr>
            <a:spLocks xmlns:a="http://schemas.openxmlformats.org/drawingml/2006/main" noGrp="1"/>
          </p:cNvSpPr>
          <p:nvPr/>
        </p:nvSpPr>
        <p:spPr>
          <a:xfrm xmlns:a="http://schemas.openxmlformats.org/drawingml/2006/main">
            <a:off x="7477125" y="5581650"/>
            <a:ext cx="38766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FFFFFF"/>
                </a:solidFill>
                <a:latin typeface="Aptos"/>
                <a:ea typeface="Aptos"/>
                <a:cs typeface="Aptos"/>
              </a:defRPr>
            </a:pPr>
            <a:r>
              <a:rPr sz="1950" b="1">
                <a:solidFill>
                  <a:srgbClr val="FFFFFF"/>
                </a:solidFill>
                <a:latin typeface="Aptos"/>
                <a:ea typeface="Aptos"/>
                <a:cs typeface="Aptos"/>
              </a:rPr>
              <a:t>Orchestrator response</a:t>
            </a:r>
          </a:p>
        </p:txBody>
      </p:sp>
      <p:sp>
        <p:nvSpPr>
          <p:cNvPr id="46" name="">
            <a:extLst xmlns:a="http://schemas.openxmlformats.org/drawingml/2006/main">
              <a:ext uri="{FF2B5EF4-FFF2-40B4-BE49-F238E27FC236}">
                <a16:creationId xmlns:a16="http://schemas.microsoft.com/office/drawing/2014/main" id="{984C6F3C-F5BF-4E6B-B70B-89C9332AE82D}"/>
              </a:ext>
            </a:extLst>
          </p:cNvPr>
          <p:cNvSpPr>
            <a:spLocks xmlns:a="http://schemas.openxmlformats.org/drawingml/2006/main" noGrp="1"/>
          </p:cNvSpPr>
          <p:nvPr/>
        </p:nvSpPr>
        <p:spPr>
          <a:xfrm xmlns:a="http://schemas.openxmlformats.org/drawingml/2006/main">
            <a:off x="609600" y="64198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3675F"/>
                </a:solidFill>
                <a:latin typeface="Aptos"/>
                <a:ea typeface="Aptos"/>
                <a:cs typeface="Aptos"/>
              </a:defRPr>
            </a:pPr>
            <a:r>
              <a:rPr sz="1125" b="0">
                <a:solidFill>
                  <a:srgbClr val="53675F"/>
                </a:solidFill>
                <a:latin typeface="Aptos"/>
                <a:ea typeface="Aptos"/>
                <a:cs typeface="Aptos"/>
              </a:rPr>
              <a:t>Generation follows the applicable branch. Markdown + JSON describes the read-only ETL result contract.</a:t>
            </a:r>
          </a:p>
        </p:txBody>
      </p:sp>
      <p:sp>
        <p:nvSpPr>
          <p:cNvPr id="47" name="">
            <a:extLst xmlns:a="http://schemas.openxmlformats.org/drawingml/2006/main">
              <a:ext uri="{FF2B5EF4-FFF2-40B4-BE49-F238E27FC236}">
                <a16:creationId xmlns:a16="http://schemas.microsoft.com/office/drawing/2014/main" id="{E2EE53DC-9484-46F2-9820-2195EAFCCD75}"/>
              </a:ext>
            </a:extLst>
          </p:cNvPr>
          <p:cNvSpPr>
            <a:spLocks xmlns:a="http://schemas.openxmlformats.org/drawingml/2006/main" noGrp="1"/>
          </p:cNvSpPr>
          <p:nvPr/>
        </p:nvSpPr>
        <p:spPr>
          <a:xfrm xmlns:a="http://schemas.openxmlformats.org/drawingml/2006/main">
            <a:off x="11049000" y="64008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1">
                <a:solidFill>
                  <a:srgbClr val="087E60"/>
                </a:solidFill>
                <a:latin typeface="Aptos"/>
                <a:ea typeface="Aptos"/>
                <a:cs typeface="Aptos"/>
              </a:defRPr>
            </a:pPr>
            <a:r>
              <a:rPr sz="1275" b="1">
                <a:solidFill>
                  <a:srgbClr val="087E60"/>
                </a:solidFill>
                <a:latin typeface="Aptos"/>
                <a:ea typeface="Aptos"/>
                <a:cs typeface="Aptos"/>
              </a:rPr>
              <a:t>03</a:t>
            </a:r>
          </a:p>
        </p:txBody>
      </p:sp>
    </p:spTree>
    <p:extLst>
      <p:ext uri="{BB962C8B-B14F-4D97-AF65-F5344CB8AC3E}">
        <p14:creationId xmlns:p14="http://schemas.microsoft.com/office/powerpoint/2010/main" val="894873101"/>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12CCF77-D99A-4D8B-B292-C6EE6934895E}"/>
              </a:ext>
            </a:extLst>
          </p:cNvPr>
          <p:cNvSpPr>
            <a:spLocks xmlns:a="http://schemas.openxmlformats.org/drawingml/2006/main" noGrp="1"/>
          </p:cNvSpPr>
          <p:nvPr/>
        </p:nvSpPr>
        <p:spPr>
          <a:xfrm xmlns:a="http://schemas.openxmlformats.org/drawingml/2006/main">
            <a:off x="609600" y="3810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F36"/>
                </a:solidFill>
                <a:latin typeface="Aptos"/>
                <a:ea typeface="Aptos"/>
                <a:cs typeface="Aptos"/>
              </a:defRPr>
            </a:pPr>
            <a:r>
              <a:rPr sz="3225" b="1">
                <a:solidFill>
                  <a:srgbClr val="173F36"/>
                </a:solidFill>
                <a:latin typeface="Aptos"/>
                <a:ea typeface="Aptos"/>
                <a:cs typeface="Aptos"/>
              </a:rPr>
              <a:t>Development gates turn progress into evidence</a:t>
            </a:r>
          </a:p>
        </p:txBody>
      </p:sp>
      <p:sp>
        <p:nvSpPr>
          <p:cNvPr id="2" name="">
            <a:extLst xmlns:a="http://schemas.openxmlformats.org/drawingml/2006/main">
              <a:ext uri="{FF2B5EF4-FFF2-40B4-BE49-F238E27FC236}">
                <a16:creationId xmlns:a16="http://schemas.microsoft.com/office/drawing/2014/main" id="{93BF259C-35F8-4F6C-A72F-8922F4EF60D8}"/>
              </a:ext>
            </a:extLst>
          </p:cNvPr>
          <p:cNvSpPr>
            <a:spLocks xmlns:a="http://schemas.openxmlformats.org/drawingml/2006/main" noGrp="1"/>
          </p:cNvSpPr>
          <p:nvPr/>
        </p:nvSpPr>
        <p:spPr>
          <a:xfrm xmlns:a="http://schemas.openxmlformats.org/drawingml/2006/main">
            <a:off x="609600" y="1047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3675F"/>
                </a:solidFill>
                <a:latin typeface="Aptos"/>
                <a:ea typeface="Aptos"/>
                <a:cs typeface="Aptos"/>
              </a:defRPr>
            </a:pPr>
            <a:r>
              <a:rPr sz="1650" b="0">
                <a:solidFill>
                  <a:srgbClr val="53675F"/>
                </a:solidFill>
                <a:latin typeface="Aptos"/>
                <a:ea typeface="Aptos"/>
                <a:cs typeface="Aptos"/>
              </a:rPr>
              <a:t>Each gate checks a different boundary and catches a different class of defect.</a:t>
            </a:r>
          </a:p>
        </p:txBody>
      </p:sp>
      <p:graphicFrame>
        <p:nvGraphicFramePr>
          <p:cNvPr id="8" name=""/>
          <p:cNvGraphicFramePr/>
          <p:nvPr/>
        </p:nvGraphicFramePr>
        <p:xfrm>
          <a:off xmlns:a="http://schemas.openxmlformats.org/drawingml/2006/main" x="609600" y="1724025"/>
          <a:ext xmlns:a="http://schemas.openxmlformats.org/drawingml/2006/main" cx="10972800" cy="4429125"/>
        </p:xfrm>
        <a:graphic xmlns:a="http://schemas.openxmlformats.org/drawingml/2006/main">
          <a:graphicData uri="http://schemas.openxmlformats.org/drawingml/2006/table">
            <a:tbl>
              <a:tblPr firstRow="0" bandRow="0"/>
              <a:tblGrid>
                <a:gridCol w="2105025"/>
                <a:gridCol w="4314825"/>
                <a:gridCol w="4552950"/>
              </a:tblGrid>
              <a:tr h="428625">
                <a:tc>
                  <a:txBody>
                    <a:bodyPr/>
                    <a:lstStyle/>
                    <a:p>
                      <a:r>
                        <a:rPr sz="1575" b="1">
                          <a:solidFill>
                            <a:srgbClr val="FFFFFF"/>
                          </a:solidFill>
                          <a:latin typeface="Aptos"/>
                          <a:ea typeface="Aptos"/>
                          <a:cs typeface="Aptos"/>
                        </a:rPr>
                        <a:t>Gate family</a:t>
                      </a:r>
                    </a:p>
                  </a:txBody>
                  <a:tcPr marL="142875" marR="142875" marT="85725" marB="85725" anchor="ctr">
                    <a:solidFill>
                      <a:srgbClr val="173F36"/>
                    </a:solidFill>
                  </a:tcPr>
                </a:tc>
                <a:tc>
                  <a:txBody>
                    <a:bodyPr/>
                    <a:lstStyle/>
                    <a:p>
                      <a:r>
                        <a:rPr sz="1575" b="1">
                          <a:solidFill>
                            <a:srgbClr val="FFFFFF"/>
                          </a:solidFill>
                          <a:latin typeface="Aptos"/>
                          <a:ea typeface="Aptos"/>
                          <a:cs typeface="Aptos"/>
                        </a:rPr>
                        <a:t>What we established or check</a:t>
                      </a:r>
                    </a:p>
                  </a:txBody>
                  <a:tcPr marL="142875" marR="142875" marT="85725" marB="85725" anchor="ctr">
                    <a:solidFill>
                      <a:srgbClr val="173F36"/>
                    </a:solidFill>
                  </a:tcPr>
                </a:tc>
                <a:tc>
                  <a:txBody>
                    <a:bodyPr/>
                    <a:lstStyle/>
                    <a:p>
                      <a:r>
                        <a:rPr sz="1575" b="1">
                          <a:solidFill>
                            <a:srgbClr val="FFFFFF"/>
                          </a:solidFill>
                          <a:latin typeface="Aptos"/>
                          <a:ea typeface="Aptos"/>
                          <a:cs typeface="Aptos"/>
                        </a:rPr>
                        <a:t>Value added</a:t>
                      </a:r>
                    </a:p>
                  </a:txBody>
                  <a:tcPr marL="142875" marR="142875" marT="85725" marB="85725" anchor="ctr">
                    <a:solidFill>
                      <a:srgbClr val="173F36"/>
                    </a:solidFill>
                  </a:tcPr>
                </a:tc>
              </a:tr>
              <a:tr h="666750">
                <a:tc>
                  <a:txBody>
                    <a:bodyPr/>
                    <a:lstStyle/>
                    <a:p>
                      <a:r>
                        <a:rPr sz="1650" b="1">
                          <a:solidFill>
                            <a:srgbClr val="173F36"/>
                          </a:solidFill>
                          <a:latin typeface="Aptos"/>
                          <a:ea typeface="Aptos"/>
                          <a:cs typeface="Aptos"/>
                        </a:rPr>
                        <a:t>A / H</a:t>
                      </a:r>
                    </a:p>
                  </a:txBody>
                  <a:tcPr marL="142875" marR="142875" marT="85725" marB="85725" anchor="ctr">
                    <a:solidFill>
                      <a:srgbClr val="FFFFFF"/>
                    </a:solidFill>
                  </a:tcPr>
                </a:tc>
                <a:tc>
                  <a:txBody>
                    <a:bodyPr/>
                    <a:lstStyle/>
                    <a:p>
                      <a:r>
                        <a:rPr sz="1650" b="0">
                          <a:solidFill>
                            <a:srgbClr val="173F36"/>
                          </a:solidFill>
                          <a:latin typeface="Aptos"/>
                          <a:ea typeface="Aptos"/>
                          <a:cs typeface="Aptos"/>
                        </a:rPr>
                        <a:t>Baseline separation and versioned</a:t>
                      </a:r>
                    </a:p>
                    <a:p>
                      <a:r>
                        <a:rPr sz="1650" b="0">
                          <a:solidFill>
                            <a:srgbClr val="173F36"/>
                          </a:solidFill>
                          <a:latin typeface="Aptos"/>
                          <a:ea typeface="Aptos"/>
                          <a:cs typeface="Aptos"/>
                        </a:rPr>
                        <a:t>evaluation inputs</a:t>
                      </a:r>
                    </a:p>
                  </a:txBody>
                  <a:tcPr marL="142875" marR="142875" marT="85725" marB="85725" anchor="ctr">
                    <a:solidFill>
                      <a:srgbClr val="FFFFFF"/>
                    </a:solidFill>
                  </a:tcPr>
                </a:tc>
                <a:tc>
                  <a:txBody>
                    <a:bodyPr/>
                    <a:lstStyle/>
                    <a:p>
                      <a:r>
                        <a:rPr sz="1650" b="0">
                          <a:solidFill>
                            <a:srgbClr val="173F36"/>
                          </a:solidFill>
                          <a:latin typeface="Aptos"/>
                          <a:ea typeface="Aptos"/>
                          <a:cs typeface="Aptos"/>
                        </a:rPr>
                        <a:t>Detect real regressions and stale baselines</a:t>
                      </a:r>
                    </a:p>
                  </a:txBody>
                  <a:tcPr marL="142875" marR="142875" marT="85725" marB="85725" anchor="ctr">
                    <a:solidFill>
                      <a:srgbClr val="FFFFFF"/>
                    </a:solidFill>
                  </a:tcPr>
                </a:tc>
              </a:tr>
              <a:tr h="666750">
                <a:tc>
                  <a:txBody>
                    <a:bodyPr/>
                    <a:lstStyle/>
                    <a:p>
                      <a:r>
                        <a:rPr sz="1650" b="1">
                          <a:solidFill>
                            <a:srgbClr val="173F36"/>
                          </a:solidFill>
                          <a:latin typeface="Aptos"/>
                          <a:ea typeface="Aptos"/>
                          <a:cs typeface="Aptos"/>
                        </a:rPr>
                        <a:t>B / C — product</a:t>
                      </a:r>
                    </a:p>
                  </a:txBody>
                  <a:tcPr marL="142875" marR="142875" marT="85725" marB="85725" anchor="ctr">
                    <a:solidFill>
                      <a:srgbClr val="EFF5F0"/>
                    </a:solidFill>
                  </a:tcPr>
                </a:tc>
                <a:tc>
                  <a:txBody>
                    <a:bodyPr/>
                    <a:lstStyle/>
                    <a:p>
                      <a:r>
                        <a:rPr sz="1650" b="0">
                          <a:solidFill>
                            <a:srgbClr val="173F36"/>
                          </a:solidFill>
                          <a:latin typeface="Aptos"/>
                          <a:ea typeface="Aptos"/>
                          <a:cs typeface="Aptos"/>
                        </a:rPr>
                        <a:t>Explicit target and shared approval</a:t>
                      </a:r>
                    </a:p>
                    <a:p>
                      <a:r>
                        <a:rPr sz="1650" b="0">
                          <a:solidFill>
                            <a:srgbClr val="173F36"/>
                          </a:solidFill>
                          <a:latin typeface="Aptos"/>
                          <a:ea typeface="Aptos"/>
                          <a:cs typeface="Aptos"/>
                        </a:rPr>
                        <a:t>across write-capable routes</a:t>
                      </a:r>
                    </a:p>
                  </a:txBody>
                  <a:tcPr marL="142875" marR="142875" marT="85725" marB="85725" anchor="ctr">
                    <a:solidFill>
                      <a:srgbClr val="EFF5F0"/>
                    </a:solidFill>
                  </a:tcPr>
                </a:tc>
                <a:tc>
                  <a:txBody>
                    <a:bodyPr/>
                    <a:lstStyle/>
                    <a:p>
                      <a:r>
                        <a:rPr sz="1650" b="0">
                          <a:solidFill>
                            <a:srgbClr val="173F36"/>
                          </a:solidFill>
                          <a:latin typeface="Aptos"/>
                          <a:ea typeface="Aptos"/>
                          <a:cs typeface="Aptos"/>
                        </a:rPr>
                        <a:t>Consistent behavior across commands</a:t>
                      </a:r>
                    </a:p>
                  </a:txBody>
                  <a:tcPr marL="142875" marR="142875" marT="85725" marB="85725" anchor="ctr">
                    <a:solidFill>
                      <a:srgbClr val="EFF5F0"/>
                    </a:solidFill>
                  </a:tcPr>
                </a:tc>
              </a:tr>
              <a:tr h="666750">
                <a:tc>
                  <a:txBody>
                    <a:bodyPr/>
                    <a:lstStyle/>
                    <a:p>
                      <a:r>
                        <a:rPr sz="1650" b="1">
                          <a:solidFill>
                            <a:srgbClr val="173F36"/>
                          </a:solidFill>
                          <a:latin typeface="Aptos"/>
                          <a:ea typeface="Aptos"/>
                          <a:cs typeface="Aptos"/>
                        </a:rPr>
                        <a:t>D</a:t>
                      </a:r>
                    </a:p>
                  </a:txBody>
                  <a:tcPr marL="142875" marR="142875" marT="85725" marB="85725" anchor="ctr">
                    <a:solidFill>
                      <a:srgbClr val="FFFFFF"/>
                    </a:solidFill>
                  </a:tcPr>
                </a:tc>
                <a:tc>
                  <a:txBody>
                    <a:bodyPr/>
                    <a:lstStyle/>
                    <a:p>
                      <a:r>
                        <a:rPr sz="1650" b="0">
                          <a:solidFill>
                            <a:srgbClr val="173F36"/>
                          </a:solidFill>
                          <a:latin typeface="Aptos"/>
                          <a:ea typeface="Aptos"/>
                          <a:cs typeface="Aptos"/>
                        </a:rPr>
                        <a:t>Physical path containment, including</a:t>
                      </a:r>
                    </a:p>
                    <a:p>
                      <a:r>
                        <a:rPr sz="1650" b="0">
                          <a:solidFill>
                            <a:srgbClr val="173F36"/>
                          </a:solidFill>
                          <a:latin typeface="Aptos"/>
                          <a:ea typeface="Aptos"/>
                          <a:cs typeface="Aptos"/>
                        </a:rPr>
                        <a:t>symlink / junction cases</a:t>
                      </a:r>
                    </a:p>
                  </a:txBody>
                  <a:tcPr marL="142875" marR="142875" marT="85725" marB="85725" anchor="ctr">
                    <a:solidFill>
                      <a:srgbClr val="FFFFFF"/>
                    </a:solidFill>
                  </a:tcPr>
                </a:tc>
                <a:tc>
                  <a:txBody>
                    <a:bodyPr/>
                    <a:lstStyle/>
                    <a:p>
                      <a:r>
                        <a:rPr sz="1650" b="0">
                          <a:solidFill>
                            <a:srgbClr val="173F36"/>
                          </a:solidFill>
                          <a:latin typeface="Aptos"/>
                          <a:ea typeface="Aptos"/>
                          <a:cs typeface="Aptos"/>
                        </a:rPr>
                        <a:t>Keep effects inside the selected consumer</a:t>
                      </a:r>
                    </a:p>
                  </a:txBody>
                  <a:tcPr marL="142875" marR="142875" marT="85725" marB="85725" anchor="ctr">
                    <a:solidFill>
                      <a:srgbClr val="FFFFFF"/>
                    </a:solidFill>
                  </a:tcPr>
                </a:tc>
              </a:tr>
              <a:tr h="666750">
                <a:tc>
                  <a:txBody>
                    <a:bodyPr/>
                    <a:lstStyle/>
                    <a:p>
                      <a:r>
                        <a:rPr sz="1650" b="1">
                          <a:solidFill>
                            <a:srgbClr val="173F36"/>
                          </a:solidFill>
                          <a:latin typeface="Aptos"/>
                          <a:ea typeface="Aptos"/>
                          <a:cs typeface="Aptos"/>
                        </a:rPr>
                        <a:t>F</a:t>
                      </a:r>
                    </a:p>
                  </a:txBody>
                  <a:tcPr marL="142875" marR="142875" marT="85725" marB="85725" anchor="ctr">
                    <a:solidFill>
                      <a:srgbClr val="EFF5F0"/>
                    </a:solidFill>
                  </a:tcPr>
                </a:tc>
                <a:tc>
                  <a:txBody>
                    <a:bodyPr/>
                    <a:lstStyle/>
                    <a:p>
                      <a:r>
                        <a:rPr sz="1650" b="0">
                          <a:solidFill>
                            <a:srgbClr val="173F36"/>
                          </a:solidFill>
                          <a:latin typeface="Aptos"/>
                          <a:ea typeface="Aptos"/>
                          <a:cs typeface="Aptos"/>
                        </a:rPr>
                        <a:t>Trusted job grammar and supported</a:t>
                      </a:r>
                    </a:p>
                    <a:p>
                      <a:r>
                        <a:rPr sz="1650" b="0">
                          <a:solidFill>
                            <a:srgbClr val="173F36"/>
                          </a:solidFill>
                          <a:latin typeface="Aptos"/>
                          <a:ea typeface="Aptos"/>
                          <a:cs typeface="Aptos"/>
                        </a:rPr>
                        <a:t>Framework contract</a:t>
                      </a:r>
                    </a:p>
                  </a:txBody>
                  <a:tcPr marL="142875" marR="142875" marT="85725" marB="85725" anchor="ctr">
                    <a:solidFill>
                      <a:srgbClr val="EFF5F0"/>
                    </a:solidFill>
                  </a:tcPr>
                </a:tc>
                <a:tc>
                  <a:txBody>
                    <a:bodyPr/>
                    <a:lstStyle/>
                    <a:p>
                      <a:r>
                        <a:rPr sz="1650" b="0">
                          <a:solidFill>
                            <a:srgbClr val="173F36"/>
                          </a:solidFill>
                          <a:latin typeface="Aptos"/>
                          <a:ea typeface="Aptos"/>
                          <a:cs typeface="Aptos"/>
                        </a:rPr>
                        <a:t>Prevent plausible but invalid ETL artifacts</a:t>
                      </a:r>
                    </a:p>
                  </a:txBody>
                  <a:tcPr marL="142875" marR="142875" marT="85725" marB="85725" anchor="ctr">
                    <a:solidFill>
                      <a:srgbClr val="EFF5F0"/>
                    </a:solidFill>
                  </a:tcPr>
                </a:tc>
              </a:tr>
              <a:tr h="666750">
                <a:tc>
                  <a:txBody>
                    <a:bodyPr/>
                    <a:lstStyle/>
                    <a:p>
                      <a:r>
                        <a:rPr sz="1650" b="1">
                          <a:solidFill>
                            <a:srgbClr val="173F36"/>
                          </a:solidFill>
                          <a:latin typeface="Aptos"/>
                          <a:ea typeface="Aptos"/>
                          <a:cs typeface="Aptos"/>
                        </a:rPr>
                        <a:t>E / G</a:t>
                      </a:r>
                    </a:p>
                  </a:txBody>
                  <a:tcPr marL="142875" marR="142875" marT="85725" marB="85725" anchor="ctr">
                    <a:solidFill>
                      <a:srgbClr val="FFFFFF"/>
                    </a:solidFill>
                  </a:tcPr>
                </a:tc>
                <a:tc>
                  <a:txBody>
                    <a:bodyPr/>
                    <a:lstStyle/>
                    <a:p>
                      <a:r>
                        <a:rPr sz="1650" b="0">
                          <a:solidFill>
                            <a:srgbClr val="173F36"/>
                          </a:solidFill>
                          <a:latin typeface="Aptos"/>
                          <a:ea typeface="Aptos"/>
                          <a:cs typeface="Aptos"/>
                        </a:rPr>
                        <a:t>Package hygiene, version and exact</a:t>
                      </a:r>
                    </a:p>
                    <a:p>
                      <a:r>
                        <a:rPr sz="1650" b="0">
                          <a:solidFill>
                            <a:srgbClr val="173F36"/>
                          </a:solidFill>
                          <a:latin typeface="Aptos"/>
                          <a:ea typeface="Aptos"/>
                          <a:cs typeface="Aptos"/>
                        </a:rPr>
                        <a:t>VSIX payload / runtime checks</a:t>
                      </a:r>
                    </a:p>
                  </a:txBody>
                  <a:tcPr marL="142875" marR="142875" marT="85725" marB="85725" anchor="ctr">
                    <a:solidFill>
                      <a:srgbClr val="FFFFFF"/>
                    </a:solidFill>
                  </a:tcPr>
                </a:tc>
                <a:tc>
                  <a:txBody>
                    <a:bodyPr/>
                    <a:lstStyle/>
                    <a:p>
                      <a:r>
                        <a:rPr sz="1650" b="0">
                          <a:solidFill>
                            <a:srgbClr val="173F36"/>
                          </a:solidFill>
                          <a:latin typeface="Aptos"/>
                          <a:ea typeface="Aptos"/>
                          <a:cs typeface="Aptos"/>
                        </a:rPr>
                        <a:t>Qualify the bytes that users actually install</a:t>
                      </a:r>
                    </a:p>
                  </a:txBody>
                  <a:tcPr marL="142875" marR="142875" marT="85725" marB="85725" anchor="ctr">
                    <a:solidFill>
                      <a:srgbClr val="FFFFFF"/>
                    </a:solidFill>
                  </a:tcPr>
                </a:tc>
              </a:tr>
              <a:tr h="666750">
                <a:tc>
                  <a:txBody>
                    <a:bodyPr/>
                    <a:lstStyle/>
                    <a:p>
                      <a:r>
                        <a:rPr sz="1650" b="1">
                          <a:solidFill>
                            <a:srgbClr val="173F36"/>
                          </a:solidFill>
                          <a:latin typeface="Aptos"/>
                          <a:ea typeface="Aptos"/>
                          <a:cs typeface="Aptos"/>
                        </a:rPr>
                        <a:t>B / C / M — QA</a:t>
                      </a:r>
                    </a:p>
                  </a:txBody>
                  <a:tcPr marL="142875" marR="142875" marT="85725" marB="85725" anchor="ctr">
                    <a:solidFill>
                      <a:srgbClr val="EFF5F0"/>
                    </a:solidFill>
                  </a:tcPr>
                </a:tc>
                <a:tc>
                  <a:txBody>
                    <a:bodyPr/>
                    <a:lstStyle/>
                    <a:p>
                      <a:r>
                        <a:rPr sz="1650" b="0">
                          <a:solidFill>
                            <a:srgbClr val="173F36"/>
                          </a:solidFill>
                          <a:latin typeface="Aptos"/>
                          <a:ea typeface="Aptos"/>
                          <a:cs typeface="Aptos"/>
                        </a:rPr>
                        <a:t>Run observations and channel checks</a:t>
                      </a:r>
                    </a:p>
                    <a:p>
                      <a:r>
                        <a:rPr sz="1650" b="0">
                          <a:solidFill>
                            <a:srgbClr val="173F36"/>
                          </a:solidFill>
                          <a:latin typeface="Aptos"/>
                          <a:ea typeface="Aptos"/>
                          <a:cs typeface="Aptos"/>
                        </a:rPr>
                        <a:t>Source and evidence integrity</a:t>
                      </a:r>
                    </a:p>
                  </a:txBody>
                  <a:tcPr marL="142875" marR="142875" marT="85725" marB="85725" anchor="ctr">
                    <a:solidFill>
                      <a:srgbClr val="EFF5F0"/>
                    </a:solidFill>
                  </a:tcPr>
                </a:tc>
                <a:tc>
                  <a:txBody>
                    <a:bodyPr/>
                    <a:lstStyle/>
                    <a:p>
                      <a:r>
                        <a:rPr sz="1650" b="0">
                          <a:solidFill>
                            <a:srgbClr val="173F36"/>
                          </a:solidFill>
                          <a:latin typeface="Aptos"/>
                          <a:ea typeface="Aptos"/>
                          <a:cs typeface="Aptos"/>
                        </a:rPr>
                        <a:t>Make verdicts trustworthy</a:t>
                      </a:r>
                    </a:p>
                    <a:p>
                      <a:r>
                        <a:rPr sz="1650" b="0">
                          <a:solidFill>
                            <a:srgbClr val="173F36"/>
                          </a:solidFill>
                          <a:latin typeface="Aptos"/>
                          <a:ea typeface="Aptos"/>
                          <a:cs typeface="Aptos"/>
                        </a:rPr>
                        <a:t>and independently reviewable</a:t>
                      </a:r>
                    </a:p>
                  </a:txBody>
                  <a:tcPr marL="142875" marR="142875" marT="85725" marB="85725" anchor="ctr">
                    <a:solidFill>
                      <a:srgbClr val="EFF5F0"/>
                    </a:solidFill>
                  </a:tcPr>
                </a:tc>
              </a:tr>
            </a:tbl>
          </a:graphicData>
        </a:graphic>
      </p:graphicFrame>
      <p:sp>
        <p:nvSpPr>
          <p:cNvPr id="4" name="">
            <a:extLst xmlns:a="http://schemas.openxmlformats.org/drawingml/2006/main">
              <a:ext uri="{FF2B5EF4-FFF2-40B4-BE49-F238E27FC236}">
                <a16:creationId xmlns:a16="http://schemas.microsoft.com/office/drawing/2014/main" id="{87757E82-B0C5-4B3F-9E4A-4B8E9D71D050}"/>
              </a:ext>
            </a:extLst>
          </p:cNvPr>
          <p:cNvSpPr>
            <a:spLocks xmlns:a="http://schemas.openxmlformats.org/drawingml/2006/main" noGrp="1"/>
          </p:cNvSpPr>
          <p:nvPr/>
        </p:nvSpPr>
        <p:spPr>
          <a:xfrm xmlns:a="http://schemas.openxmlformats.org/drawingml/2006/main">
            <a:off x="609600" y="64198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3675F"/>
                </a:solidFill>
                <a:latin typeface="Aptos"/>
                <a:ea typeface="Aptos"/>
                <a:cs typeface="Aptos"/>
              </a:defRPr>
            </a:pPr>
            <a:r>
              <a:rPr sz="1125" b="0">
                <a:solidFill>
                  <a:srgbClr val="53675F"/>
                </a:solidFill>
                <a:latin typeface="Aptos"/>
                <a:ea typeface="Aptos"/>
                <a:cs typeface="Aptos"/>
              </a:rPr>
              <a:t>Historical product phases and later QA finding families are separate namespaces; closure remains scope-specific.</a:t>
            </a:r>
          </a:p>
        </p:txBody>
      </p:sp>
      <p:sp>
        <p:nvSpPr>
          <p:cNvPr id="5" name="">
            <a:extLst xmlns:a="http://schemas.openxmlformats.org/drawingml/2006/main">
              <a:ext uri="{FF2B5EF4-FFF2-40B4-BE49-F238E27FC236}">
                <a16:creationId xmlns:a16="http://schemas.microsoft.com/office/drawing/2014/main" id="{D5561C38-50A7-4198-AFE6-DB37DACF76FA}"/>
              </a:ext>
            </a:extLst>
          </p:cNvPr>
          <p:cNvSpPr>
            <a:spLocks xmlns:a="http://schemas.openxmlformats.org/drawingml/2006/main" noGrp="1"/>
          </p:cNvSpPr>
          <p:nvPr/>
        </p:nvSpPr>
        <p:spPr>
          <a:xfrm xmlns:a="http://schemas.openxmlformats.org/drawingml/2006/main">
            <a:off x="11049000" y="64008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1">
                <a:solidFill>
                  <a:srgbClr val="087E60"/>
                </a:solidFill>
                <a:latin typeface="Aptos"/>
                <a:ea typeface="Aptos"/>
                <a:cs typeface="Aptos"/>
              </a:defRPr>
            </a:pPr>
            <a:r>
              <a:rPr sz="1275" b="1">
                <a:solidFill>
                  <a:srgbClr val="087E60"/>
                </a:solidFill>
                <a:latin typeface="Aptos"/>
                <a:ea typeface="Aptos"/>
                <a:cs typeface="Aptos"/>
              </a:rPr>
              <a:t>04</a:t>
            </a:r>
          </a:p>
        </p:txBody>
      </p:sp>
    </p:spTree>
    <p:extLst>
      <p:ext uri="{BB962C8B-B14F-4D97-AF65-F5344CB8AC3E}">
        <p14:creationId xmlns:p14="http://schemas.microsoft.com/office/powerpoint/2010/main" val="85792697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3" name="">
            <a:extLst xmlns:a="http://schemas.openxmlformats.org/drawingml/2006/main">
              <a:ext uri="{FF2B5EF4-FFF2-40B4-BE49-F238E27FC236}">
                <a16:creationId xmlns:a16="http://schemas.microsoft.com/office/drawing/2014/main" id="{A0DAC8D9-A193-4D3F-855B-65BA338E8C0F}"/>
              </a:ext>
            </a:extLst>
          </p:cNvPr>
          <p:cNvSpPr>
            <a:spLocks xmlns:a="http://schemas.openxmlformats.org/drawingml/2006/main" noGrp="1"/>
          </p:cNvSpPr>
          <p:nvPr/>
        </p:nvSpPr>
        <p:spPr>
          <a:xfrm xmlns:a="http://schemas.openxmlformats.org/drawingml/2006/main">
            <a:off x="609600" y="3810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F36"/>
                </a:solidFill>
                <a:latin typeface="Aptos"/>
                <a:ea typeface="Aptos"/>
                <a:cs typeface="Aptos"/>
              </a:defRPr>
            </a:pPr>
            <a:r>
              <a:rPr sz="3225" b="1">
                <a:solidFill>
                  <a:srgbClr val="173F36"/>
                </a:solidFill>
                <a:latin typeface="Aptos"/>
                <a:ea typeface="Aptos"/>
                <a:cs typeface="Aptos"/>
              </a:rPr>
              <a:t>How we organized testing</a:t>
            </a:r>
          </a:p>
        </p:txBody>
      </p:sp>
      <p:sp>
        <p:nvSpPr>
          <p:cNvPr id="2" name="">
            <a:extLst xmlns:a="http://schemas.openxmlformats.org/drawingml/2006/main">
              <a:ext uri="{FF2B5EF4-FFF2-40B4-BE49-F238E27FC236}">
                <a16:creationId xmlns:a16="http://schemas.microsoft.com/office/drawing/2014/main" id="{1DADF923-02B7-4CEC-B303-9D36DC668418}"/>
              </a:ext>
            </a:extLst>
          </p:cNvPr>
          <p:cNvSpPr>
            <a:spLocks xmlns:a="http://schemas.openxmlformats.org/drawingml/2006/main" noGrp="1"/>
          </p:cNvSpPr>
          <p:nvPr/>
        </p:nvSpPr>
        <p:spPr>
          <a:xfrm xmlns:a="http://schemas.openxmlformats.org/drawingml/2006/main">
            <a:off x="609600" y="1047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3675F"/>
                </a:solidFill>
                <a:latin typeface="Aptos"/>
                <a:ea typeface="Aptos"/>
                <a:cs typeface="Aptos"/>
              </a:defRPr>
            </a:pPr>
            <a:r>
              <a:rPr sz="1650" b="0">
                <a:solidFill>
                  <a:srgbClr val="53675F"/>
                </a:solidFill>
                <a:latin typeface="Aptos"/>
                <a:ea typeface="Aptos"/>
                <a:cs typeface="Aptos"/>
              </a:rPr>
              <a:t>Fast regression feedback and real product-boundary checks answer different questions.</a:t>
            </a:r>
          </a:p>
        </p:txBody>
      </p:sp>
      <p:sp>
        <p:nvSpPr>
          <p:cNvPr id="3" name="">
            <a:extLst xmlns:a="http://schemas.openxmlformats.org/drawingml/2006/main">
              <a:ext uri="{FF2B5EF4-FFF2-40B4-BE49-F238E27FC236}">
                <a16:creationId xmlns:a16="http://schemas.microsoft.com/office/drawing/2014/main" id="{6E6A5F5F-C32F-49AA-BA35-3FCD7E43E092}"/>
              </a:ext>
            </a:extLst>
          </p:cNvPr>
          <p:cNvSpPr>
            <a:spLocks xmlns:a="http://schemas.openxmlformats.org/drawingml/2006/main" noGrp="1"/>
          </p:cNvSpPr>
          <p:nvPr/>
        </p:nvSpPr>
        <p:spPr>
          <a:xfrm xmlns:a="http://schemas.openxmlformats.org/drawingml/2006/main">
            <a:off x="609600" y="1657350"/>
            <a:ext cx="4667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87E60"/>
                </a:solidFill>
                <a:latin typeface="Aptos"/>
                <a:ea typeface="Aptos"/>
                <a:cs typeface="Aptos"/>
              </a:defRPr>
            </a:pPr>
            <a:r>
              <a:rPr sz="1350" b="1">
                <a:solidFill>
                  <a:srgbClr val="087E60"/>
                </a:solidFill>
                <a:latin typeface="Aptos"/>
                <a:ea typeface="Aptos"/>
                <a:cs typeface="Aptos"/>
              </a:rPr>
              <a:t>TEST LAYERS</a:t>
            </a:r>
          </a:p>
        </p:txBody>
      </p:sp>
      <p:sp>
        <p:nvSpPr>
          <p:cNvPr id="4" name="">
            <a:extLst xmlns:a="http://schemas.openxmlformats.org/drawingml/2006/main">
              <a:ext uri="{FF2B5EF4-FFF2-40B4-BE49-F238E27FC236}">
                <a16:creationId xmlns:a16="http://schemas.microsoft.com/office/drawing/2014/main" id="{439B9C88-47B0-437B-A655-18AB241E7FF2}"/>
              </a:ext>
            </a:extLst>
          </p:cNvPr>
          <p:cNvSpPr>
            <a:spLocks xmlns:a="http://schemas.openxmlformats.org/drawingml/2006/main" noGrp="1"/>
          </p:cNvSpPr>
          <p:nvPr/>
        </p:nvSpPr>
        <p:spPr>
          <a:xfrm xmlns:a="http://schemas.openxmlformats.org/drawingml/2006/main">
            <a:off x="5657850" y="1657350"/>
            <a:ext cx="59245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1">
                <a:solidFill>
                  <a:srgbClr val="087E60"/>
                </a:solidFill>
                <a:latin typeface="Aptos"/>
                <a:ea typeface="Aptos"/>
                <a:cs typeface="Aptos"/>
              </a:defRPr>
            </a:pPr>
            <a:r>
              <a:rPr sz="1350" b="1">
                <a:solidFill>
                  <a:srgbClr val="087E60"/>
                </a:solidFill>
                <a:latin typeface="Aptos"/>
                <a:ea typeface="Aptos"/>
                <a:cs typeface="Aptos"/>
              </a:rPr>
              <a:t>OUR QUALIFICATION HARNESS</a:t>
            </a:r>
          </a:p>
        </p:txBody>
      </p:sp>
      <p:sp>
        <p:nvSpPr>
          <p:cNvPr id="5" name="">
            <a:extLst xmlns:a="http://schemas.openxmlformats.org/drawingml/2006/main">
              <a:ext uri="{FF2B5EF4-FFF2-40B4-BE49-F238E27FC236}">
                <a16:creationId xmlns:a16="http://schemas.microsoft.com/office/drawing/2014/main" id="{98BCFA2E-2543-4A7D-BC27-DF3F6CEAED92}"/>
              </a:ext>
            </a:extLst>
          </p:cNvPr>
          <p:cNvSpPr>
            <a:spLocks xmlns:a="http://schemas.openxmlformats.org/drawingml/2006/main" noGrp="1"/>
          </p:cNvSpPr>
          <p:nvPr/>
        </p:nvSpPr>
        <p:spPr>
          <a:xfrm xmlns:a="http://schemas.openxmlformats.org/drawingml/2006/main">
            <a:off x="609600" y="2066925"/>
            <a:ext cx="4552950" cy="666750"/>
          </a:xfrm>
          <a:prstGeom xmlns:a="http://schemas.openxmlformats.org/drawingml/2006/main" prst="rect">
            <a:avLst/>
          </a:prstGeom>
          <a:solidFill xmlns:a="http://schemas.openxmlformats.org/drawingml/2006/main">
            <a:srgbClr val="EFF5F0"/>
          </a:solidFill>
          <a:ln xmlns:a="http://schemas.openxmlformats.org/drawingml/2006/main" w="9525">
            <a:solidFill>
              <a:srgbClr val="D5E0D9"/>
            </a:solidFill>
          </a:ln>
        </p:spPr>
      </p:sp>
      <p:sp>
        <p:nvSpPr>
          <p:cNvPr id="6" name="">
            <a:extLst xmlns:a="http://schemas.openxmlformats.org/drawingml/2006/main">
              <a:ext uri="{FF2B5EF4-FFF2-40B4-BE49-F238E27FC236}">
                <a16:creationId xmlns:a16="http://schemas.microsoft.com/office/drawing/2014/main" id="{DA244ADE-0618-4D13-ADD3-66A48A46F363}"/>
              </a:ext>
            </a:extLst>
          </p:cNvPr>
          <p:cNvSpPr>
            <a:spLocks xmlns:a="http://schemas.openxmlformats.org/drawingml/2006/main" noGrp="1"/>
          </p:cNvSpPr>
          <p:nvPr/>
        </p:nvSpPr>
        <p:spPr>
          <a:xfrm xmlns:a="http://schemas.openxmlformats.org/drawingml/2006/main">
            <a:off x="762000" y="2133600"/>
            <a:ext cx="423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3F36"/>
                </a:solidFill>
                <a:latin typeface="Aptos"/>
                <a:ea typeface="Aptos"/>
                <a:cs typeface="Aptos"/>
              </a:defRPr>
            </a:pPr>
            <a:r>
              <a:rPr sz="1800" b="1">
                <a:solidFill>
                  <a:srgbClr val="173F36"/>
                </a:solidFill>
                <a:latin typeface="Aptos"/>
                <a:ea typeface="Aptos"/>
                <a:cs typeface="Aptos"/>
              </a:rPr>
              <a:t>1  Unit / regression</a:t>
            </a:r>
          </a:p>
        </p:txBody>
      </p:sp>
      <p:sp>
        <p:nvSpPr>
          <p:cNvPr id="7" name="">
            <a:extLst xmlns:a="http://schemas.openxmlformats.org/drawingml/2006/main">
              <a:ext uri="{FF2B5EF4-FFF2-40B4-BE49-F238E27FC236}">
                <a16:creationId xmlns:a16="http://schemas.microsoft.com/office/drawing/2014/main" id="{5FCD7F65-181E-4187-B8A9-D0077FD8172F}"/>
              </a:ext>
            </a:extLst>
          </p:cNvPr>
          <p:cNvSpPr>
            <a:spLocks xmlns:a="http://schemas.openxmlformats.org/drawingml/2006/main" noGrp="1"/>
          </p:cNvSpPr>
          <p:nvPr/>
        </p:nvSpPr>
        <p:spPr>
          <a:xfrm xmlns:a="http://schemas.openxmlformats.org/drawingml/2006/main">
            <a:off x="762000" y="2466975"/>
            <a:ext cx="423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3675F"/>
                </a:solidFill>
                <a:latin typeface="Aptos"/>
                <a:ea typeface="Aptos"/>
                <a:cs typeface="Aptos"/>
              </a:defRPr>
            </a:pPr>
            <a:r>
              <a:rPr sz="1425" b="0">
                <a:solidFill>
                  <a:srgbClr val="53675F"/>
                </a:solidFill>
                <a:latin typeface="Aptos"/>
                <a:ea typeface="Aptos"/>
                <a:cs typeface="Aptos"/>
              </a:rPr>
              <a:t>Parsers, contracts and safety rules</a:t>
            </a:r>
          </a:p>
        </p:txBody>
      </p:sp>
      <p:sp>
        <p:nvSpPr>
          <p:cNvPr id="8" name="">
            <a:extLst xmlns:a="http://schemas.openxmlformats.org/drawingml/2006/main">
              <a:ext uri="{FF2B5EF4-FFF2-40B4-BE49-F238E27FC236}">
                <a16:creationId xmlns:a16="http://schemas.microsoft.com/office/drawing/2014/main" id="{59430E44-AD88-4D8D-ACF2-B35242087EF5}"/>
              </a:ext>
            </a:extLst>
          </p:cNvPr>
          <p:cNvSpPr>
            <a:spLocks xmlns:a="http://schemas.openxmlformats.org/drawingml/2006/main" noGrp="1"/>
          </p:cNvSpPr>
          <p:nvPr/>
        </p:nvSpPr>
        <p:spPr>
          <a:xfrm xmlns:a="http://schemas.openxmlformats.org/drawingml/2006/main">
            <a:off x="609600" y="2828925"/>
            <a:ext cx="45529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5E0D9"/>
            </a:solidFill>
          </a:ln>
        </p:spPr>
      </p:sp>
      <p:sp>
        <p:nvSpPr>
          <p:cNvPr id="9" name="">
            <a:extLst xmlns:a="http://schemas.openxmlformats.org/drawingml/2006/main">
              <a:ext uri="{FF2B5EF4-FFF2-40B4-BE49-F238E27FC236}">
                <a16:creationId xmlns:a16="http://schemas.microsoft.com/office/drawing/2014/main" id="{7399E562-3DFB-46E3-9A33-4DCC8559E0B0}"/>
              </a:ext>
            </a:extLst>
          </p:cNvPr>
          <p:cNvSpPr>
            <a:spLocks xmlns:a="http://schemas.openxmlformats.org/drawingml/2006/main" noGrp="1"/>
          </p:cNvSpPr>
          <p:nvPr/>
        </p:nvSpPr>
        <p:spPr>
          <a:xfrm xmlns:a="http://schemas.openxmlformats.org/drawingml/2006/main">
            <a:off x="762000" y="2895600"/>
            <a:ext cx="423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3F36"/>
                </a:solidFill>
                <a:latin typeface="Aptos"/>
                <a:ea typeface="Aptos"/>
                <a:cs typeface="Aptos"/>
              </a:defRPr>
            </a:pPr>
            <a:r>
              <a:rPr sz="1800" b="1">
                <a:solidFill>
                  <a:srgbClr val="173F36"/>
                </a:solidFill>
                <a:latin typeface="Aptos"/>
                <a:ea typeface="Aptos"/>
                <a:cs typeface="Aptos"/>
              </a:rPr>
              <a:t>2  Public adapter</a:t>
            </a:r>
          </a:p>
        </p:txBody>
      </p:sp>
      <p:sp>
        <p:nvSpPr>
          <p:cNvPr id="10" name="">
            <a:extLst xmlns:a="http://schemas.openxmlformats.org/drawingml/2006/main">
              <a:ext uri="{FF2B5EF4-FFF2-40B4-BE49-F238E27FC236}">
                <a16:creationId xmlns:a16="http://schemas.microsoft.com/office/drawing/2014/main" id="{6535DBC4-6A32-4723-A2B1-4C33D33F1A26}"/>
              </a:ext>
            </a:extLst>
          </p:cNvPr>
          <p:cNvSpPr>
            <a:spLocks xmlns:a="http://schemas.openxmlformats.org/drawingml/2006/main" noGrp="1"/>
          </p:cNvSpPr>
          <p:nvPr/>
        </p:nvSpPr>
        <p:spPr>
          <a:xfrm xmlns:a="http://schemas.openxmlformats.org/drawingml/2006/main">
            <a:off x="762000" y="3228975"/>
            <a:ext cx="423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3675F"/>
                </a:solidFill>
                <a:latin typeface="Aptos"/>
                <a:ea typeface="Aptos"/>
                <a:cs typeface="Aptos"/>
              </a:defRPr>
            </a:pPr>
            <a:r>
              <a:rPr sz="1425" b="0">
                <a:solidFill>
                  <a:srgbClr val="53675F"/>
                </a:solidFill>
                <a:latin typeface="Aptos"/>
                <a:ea typeface="Aptos"/>
                <a:cs typeface="Aptos"/>
              </a:rPr>
              <a:t>Realistic result envelopes and decoding</a:t>
            </a:r>
          </a:p>
        </p:txBody>
      </p:sp>
      <p:sp>
        <p:nvSpPr>
          <p:cNvPr id="11" name="">
            <a:extLst xmlns:a="http://schemas.openxmlformats.org/drawingml/2006/main">
              <a:ext uri="{FF2B5EF4-FFF2-40B4-BE49-F238E27FC236}">
                <a16:creationId xmlns:a16="http://schemas.microsoft.com/office/drawing/2014/main" id="{8F84FEC1-0264-4F3B-91C2-6BC80B333E05}"/>
              </a:ext>
            </a:extLst>
          </p:cNvPr>
          <p:cNvSpPr>
            <a:spLocks xmlns:a="http://schemas.openxmlformats.org/drawingml/2006/main" noGrp="1"/>
          </p:cNvSpPr>
          <p:nvPr/>
        </p:nvSpPr>
        <p:spPr>
          <a:xfrm xmlns:a="http://schemas.openxmlformats.org/drawingml/2006/main">
            <a:off x="609600" y="3590925"/>
            <a:ext cx="4552950" cy="666750"/>
          </a:xfrm>
          <a:prstGeom xmlns:a="http://schemas.openxmlformats.org/drawingml/2006/main" prst="rect">
            <a:avLst/>
          </a:prstGeom>
          <a:solidFill xmlns:a="http://schemas.openxmlformats.org/drawingml/2006/main">
            <a:srgbClr val="EFF5F0"/>
          </a:solidFill>
          <a:ln xmlns:a="http://schemas.openxmlformats.org/drawingml/2006/main" w="9525">
            <a:solidFill>
              <a:srgbClr val="D5E0D9"/>
            </a:solidFill>
          </a:ln>
        </p:spPr>
      </p:sp>
      <p:sp>
        <p:nvSpPr>
          <p:cNvPr id="12" name="">
            <a:extLst xmlns:a="http://schemas.openxmlformats.org/drawingml/2006/main">
              <a:ext uri="{FF2B5EF4-FFF2-40B4-BE49-F238E27FC236}">
                <a16:creationId xmlns:a16="http://schemas.microsoft.com/office/drawing/2014/main" id="{3DD43DAD-164E-4628-9484-09A1D50BC341}"/>
              </a:ext>
            </a:extLst>
          </p:cNvPr>
          <p:cNvSpPr>
            <a:spLocks xmlns:a="http://schemas.openxmlformats.org/drawingml/2006/main" noGrp="1"/>
          </p:cNvSpPr>
          <p:nvPr/>
        </p:nvSpPr>
        <p:spPr>
          <a:xfrm xmlns:a="http://schemas.openxmlformats.org/drawingml/2006/main">
            <a:off x="762000" y="3657600"/>
            <a:ext cx="423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3F36"/>
                </a:solidFill>
                <a:latin typeface="Aptos"/>
                <a:ea typeface="Aptos"/>
                <a:cs typeface="Aptos"/>
              </a:defRPr>
            </a:pPr>
            <a:r>
              <a:rPr sz="1800" b="1">
                <a:solidFill>
                  <a:srgbClr val="173F36"/>
                </a:solidFill>
                <a:latin typeface="Aptos"/>
                <a:ea typeface="Aptos"/>
                <a:cs typeface="Aptos"/>
              </a:rPr>
              <a:t>3  Extension Host</a:t>
            </a:r>
          </a:p>
        </p:txBody>
      </p:sp>
      <p:sp>
        <p:nvSpPr>
          <p:cNvPr id="13" name="">
            <a:extLst xmlns:a="http://schemas.openxmlformats.org/drawingml/2006/main">
              <a:ext uri="{FF2B5EF4-FFF2-40B4-BE49-F238E27FC236}">
                <a16:creationId xmlns:a16="http://schemas.microsoft.com/office/drawing/2014/main" id="{683A1342-DEFE-4891-AC57-D2683307F45F}"/>
              </a:ext>
            </a:extLst>
          </p:cNvPr>
          <p:cNvSpPr>
            <a:spLocks xmlns:a="http://schemas.openxmlformats.org/drawingml/2006/main" noGrp="1"/>
          </p:cNvSpPr>
          <p:nvPr/>
        </p:nvSpPr>
        <p:spPr>
          <a:xfrm xmlns:a="http://schemas.openxmlformats.org/drawingml/2006/main">
            <a:off x="762000" y="3990975"/>
            <a:ext cx="423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3675F"/>
                </a:solidFill>
                <a:latin typeface="Aptos"/>
                <a:ea typeface="Aptos"/>
                <a:cs typeface="Aptos"/>
              </a:defRPr>
            </a:pPr>
            <a:r>
              <a:rPr sz="1425" b="0">
                <a:solidFill>
                  <a:srgbClr val="53675F"/>
                </a:solidFill>
                <a:latin typeface="Aptos"/>
                <a:ea typeface="Aptos"/>
                <a:cs typeface="Aptos"/>
              </a:rPr>
              <a:t>Registered tool through vscode.lm</a:t>
            </a:r>
          </a:p>
        </p:txBody>
      </p:sp>
      <p:sp>
        <p:nvSpPr>
          <p:cNvPr id="14" name="">
            <a:extLst xmlns:a="http://schemas.openxmlformats.org/drawingml/2006/main">
              <a:ext uri="{FF2B5EF4-FFF2-40B4-BE49-F238E27FC236}">
                <a16:creationId xmlns:a16="http://schemas.microsoft.com/office/drawing/2014/main" id="{9D1B0B80-3FA0-433A-BDB7-57104AE1269D}"/>
              </a:ext>
            </a:extLst>
          </p:cNvPr>
          <p:cNvSpPr>
            <a:spLocks xmlns:a="http://schemas.openxmlformats.org/drawingml/2006/main" noGrp="1"/>
          </p:cNvSpPr>
          <p:nvPr/>
        </p:nvSpPr>
        <p:spPr>
          <a:xfrm xmlns:a="http://schemas.openxmlformats.org/drawingml/2006/main">
            <a:off x="609600" y="4352925"/>
            <a:ext cx="4552950" cy="666750"/>
          </a:xfrm>
          <a:prstGeom xmlns:a="http://schemas.openxmlformats.org/drawingml/2006/main" prst="rect">
            <a:avLst/>
          </a:prstGeom>
          <a:solidFill xmlns:a="http://schemas.openxmlformats.org/drawingml/2006/main">
            <a:srgbClr val="FFFFFF"/>
          </a:solidFill>
          <a:ln xmlns:a="http://schemas.openxmlformats.org/drawingml/2006/main" w="9525">
            <a:solidFill>
              <a:srgbClr val="D5E0D9"/>
            </a:solidFill>
          </a:ln>
        </p:spPr>
      </p:sp>
      <p:sp>
        <p:nvSpPr>
          <p:cNvPr id="15" name="">
            <a:extLst xmlns:a="http://schemas.openxmlformats.org/drawingml/2006/main">
              <a:ext uri="{FF2B5EF4-FFF2-40B4-BE49-F238E27FC236}">
                <a16:creationId xmlns:a16="http://schemas.microsoft.com/office/drawing/2014/main" id="{333CDAC5-8036-4F12-B225-9406E85C439B}"/>
              </a:ext>
            </a:extLst>
          </p:cNvPr>
          <p:cNvSpPr>
            <a:spLocks xmlns:a="http://schemas.openxmlformats.org/drawingml/2006/main" noGrp="1"/>
          </p:cNvSpPr>
          <p:nvPr/>
        </p:nvSpPr>
        <p:spPr>
          <a:xfrm xmlns:a="http://schemas.openxmlformats.org/drawingml/2006/main">
            <a:off x="762000" y="4419600"/>
            <a:ext cx="423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3F36"/>
                </a:solidFill>
                <a:latin typeface="Aptos"/>
                <a:ea typeface="Aptos"/>
                <a:cs typeface="Aptos"/>
              </a:defRPr>
            </a:pPr>
            <a:r>
              <a:rPr sz="1800" b="1">
                <a:solidFill>
                  <a:srgbClr val="173F36"/>
                </a:solidFill>
                <a:latin typeface="Aptos"/>
                <a:ea typeface="Aptos"/>
                <a:cs typeface="Aptos"/>
              </a:rPr>
              <a:t>4  Installed VSIX</a:t>
            </a:r>
          </a:p>
        </p:txBody>
      </p:sp>
      <p:sp>
        <p:nvSpPr>
          <p:cNvPr id="16" name="">
            <a:extLst xmlns:a="http://schemas.openxmlformats.org/drawingml/2006/main">
              <a:ext uri="{FF2B5EF4-FFF2-40B4-BE49-F238E27FC236}">
                <a16:creationId xmlns:a16="http://schemas.microsoft.com/office/drawing/2014/main" id="{1FE7C934-7E26-4545-BE66-08B6588C0726}"/>
              </a:ext>
            </a:extLst>
          </p:cNvPr>
          <p:cNvSpPr>
            <a:spLocks xmlns:a="http://schemas.openxmlformats.org/drawingml/2006/main" noGrp="1"/>
          </p:cNvSpPr>
          <p:nvPr/>
        </p:nvSpPr>
        <p:spPr>
          <a:xfrm xmlns:a="http://schemas.openxmlformats.org/drawingml/2006/main">
            <a:off x="762000" y="4752975"/>
            <a:ext cx="423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3675F"/>
                </a:solidFill>
                <a:latin typeface="Aptos"/>
                <a:ea typeface="Aptos"/>
                <a:cs typeface="Aptos"/>
              </a:defRPr>
            </a:pPr>
            <a:r>
              <a:rPr sz="1425" b="0">
                <a:solidFill>
                  <a:srgbClr val="53675F"/>
                </a:solidFill>
                <a:latin typeface="Aptos"/>
                <a:ea typeface="Aptos"/>
                <a:cs typeface="Aptos"/>
              </a:rPr>
              <a:t>Exact package in a temporary consumer</a:t>
            </a:r>
          </a:p>
        </p:txBody>
      </p:sp>
      <p:sp>
        <p:nvSpPr>
          <p:cNvPr id="17" name="">
            <a:extLst xmlns:a="http://schemas.openxmlformats.org/drawingml/2006/main">
              <a:ext uri="{FF2B5EF4-FFF2-40B4-BE49-F238E27FC236}">
                <a16:creationId xmlns:a16="http://schemas.microsoft.com/office/drawing/2014/main" id="{72D0CDD0-4BDF-4B28-92FA-A1F4B878C14D}"/>
              </a:ext>
            </a:extLst>
          </p:cNvPr>
          <p:cNvSpPr>
            <a:spLocks xmlns:a="http://schemas.openxmlformats.org/drawingml/2006/main" noGrp="1"/>
          </p:cNvSpPr>
          <p:nvPr/>
        </p:nvSpPr>
        <p:spPr>
          <a:xfrm xmlns:a="http://schemas.openxmlformats.org/drawingml/2006/main">
            <a:off x="609600" y="5114925"/>
            <a:ext cx="4552950" cy="666750"/>
          </a:xfrm>
          <a:prstGeom xmlns:a="http://schemas.openxmlformats.org/drawingml/2006/main" prst="rect">
            <a:avLst/>
          </a:prstGeom>
          <a:solidFill xmlns:a="http://schemas.openxmlformats.org/drawingml/2006/main">
            <a:srgbClr val="EFF5F0"/>
          </a:solidFill>
          <a:ln xmlns:a="http://schemas.openxmlformats.org/drawingml/2006/main" w="9525">
            <a:solidFill>
              <a:srgbClr val="D5E0D9"/>
            </a:solidFill>
          </a:ln>
        </p:spPr>
      </p:sp>
      <p:sp>
        <p:nvSpPr>
          <p:cNvPr id="18" name="">
            <a:extLst xmlns:a="http://schemas.openxmlformats.org/drawingml/2006/main">
              <a:ext uri="{FF2B5EF4-FFF2-40B4-BE49-F238E27FC236}">
                <a16:creationId xmlns:a16="http://schemas.microsoft.com/office/drawing/2014/main" id="{03EA2E2C-4305-4840-979D-105B4FD5FB52}"/>
              </a:ext>
            </a:extLst>
          </p:cNvPr>
          <p:cNvSpPr>
            <a:spLocks xmlns:a="http://schemas.openxmlformats.org/drawingml/2006/main" noGrp="1"/>
          </p:cNvSpPr>
          <p:nvPr/>
        </p:nvSpPr>
        <p:spPr>
          <a:xfrm xmlns:a="http://schemas.openxmlformats.org/drawingml/2006/main">
            <a:off x="762000" y="5181600"/>
            <a:ext cx="423862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a:solidFill>
                  <a:srgbClr val="173F36"/>
                </a:solidFill>
                <a:latin typeface="Aptos"/>
                <a:ea typeface="Aptos"/>
                <a:cs typeface="Aptos"/>
              </a:defRPr>
            </a:pPr>
            <a:r>
              <a:rPr sz="1800" b="1">
                <a:solidFill>
                  <a:srgbClr val="173F36"/>
                </a:solidFill>
                <a:latin typeface="Aptos"/>
                <a:ea typeface="Aptos"/>
                <a:cs typeface="Aptos"/>
              </a:rPr>
              <a:t>5  F5 / agent scenario</a:t>
            </a:r>
          </a:p>
        </p:txBody>
      </p:sp>
      <p:sp>
        <p:nvSpPr>
          <p:cNvPr id="19" name="">
            <a:extLst xmlns:a="http://schemas.openxmlformats.org/drawingml/2006/main">
              <a:ext uri="{FF2B5EF4-FFF2-40B4-BE49-F238E27FC236}">
                <a16:creationId xmlns:a16="http://schemas.microsoft.com/office/drawing/2014/main" id="{A2AE2BA4-6227-4C9F-B1F2-432EF2498FEC}"/>
              </a:ext>
            </a:extLst>
          </p:cNvPr>
          <p:cNvSpPr>
            <a:spLocks xmlns:a="http://schemas.openxmlformats.org/drawingml/2006/main" noGrp="1"/>
          </p:cNvSpPr>
          <p:nvPr/>
        </p:nvSpPr>
        <p:spPr>
          <a:xfrm xmlns:a="http://schemas.openxmlformats.org/drawingml/2006/main">
            <a:off x="762000" y="5514975"/>
            <a:ext cx="423862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3675F"/>
                </a:solidFill>
                <a:latin typeface="Aptos"/>
                <a:ea typeface="Aptos"/>
                <a:cs typeface="Aptos"/>
              </a:defRPr>
            </a:pPr>
            <a:r>
              <a:rPr sz="1425" b="0">
                <a:solidFill>
                  <a:srgbClr val="53675F"/>
                </a:solidFill>
                <a:latin typeface="Aptos"/>
                <a:ea typeface="Aptos"/>
                <a:cs typeface="Aptos"/>
              </a:rPr>
              <a:t>Actual UI, model and delegation behavior</a:t>
            </a:r>
          </a:p>
        </p:txBody>
      </p:sp>
      <p:sp>
        <p:nvSpPr>
          <p:cNvPr id="20" name="">
            <a:extLst xmlns:a="http://schemas.openxmlformats.org/drawingml/2006/main">
              <a:ext uri="{FF2B5EF4-FFF2-40B4-BE49-F238E27FC236}">
                <a16:creationId xmlns:a16="http://schemas.microsoft.com/office/drawing/2014/main" id="{E47CBC13-CEAB-4ED7-86DD-DF8A05F9B851}"/>
              </a:ext>
            </a:extLst>
          </p:cNvPr>
          <p:cNvSpPr>
            <a:spLocks xmlns:a="http://schemas.openxmlformats.org/drawingml/2006/main" noGrp="1"/>
          </p:cNvSpPr>
          <p:nvPr/>
        </p:nvSpPr>
        <p:spPr>
          <a:xfrm xmlns:a="http://schemas.openxmlformats.org/drawingml/2006/main">
            <a:off x="5657850" y="2066925"/>
            <a:ext cx="5924550" cy="800100"/>
          </a:xfrm>
          <a:prstGeom xmlns:a="http://schemas.openxmlformats.org/drawingml/2006/main" prst="rect">
            <a:avLst/>
          </a:prstGeom>
          <a:solidFill xmlns:a="http://schemas.openxmlformats.org/drawingml/2006/main">
            <a:srgbClr val="EFF5F0"/>
          </a:solidFill>
          <a:ln xmlns:a="http://schemas.openxmlformats.org/drawingml/2006/main" w="9525">
            <a:solidFill>
              <a:srgbClr val="D5E0D9"/>
            </a:solidFill>
          </a:ln>
        </p:spPr>
      </p:sp>
      <p:sp>
        <p:nvSpPr>
          <p:cNvPr id="21" name="">
            <a:extLst xmlns:a="http://schemas.openxmlformats.org/drawingml/2006/main">
              <a:ext uri="{FF2B5EF4-FFF2-40B4-BE49-F238E27FC236}">
                <a16:creationId xmlns:a16="http://schemas.microsoft.com/office/drawing/2014/main" id="{1A36C9E5-BE37-4634-B34E-AB4651F152C7}"/>
              </a:ext>
            </a:extLst>
          </p:cNvPr>
          <p:cNvSpPr>
            <a:spLocks xmlns:a="http://schemas.openxmlformats.org/drawingml/2006/main" noGrp="1"/>
          </p:cNvSpPr>
          <p:nvPr/>
        </p:nvSpPr>
        <p:spPr>
          <a:xfrm xmlns:a="http://schemas.openxmlformats.org/drawingml/2006/main">
            <a:off x="5848350" y="2162175"/>
            <a:ext cx="5543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3F36"/>
                </a:solidFill>
                <a:latin typeface="Aptos"/>
                <a:ea typeface="Aptos"/>
                <a:cs typeface="Aptos"/>
              </a:defRPr>
            </a:pPr>
            <a:r>
              <a:rPr sz="2025" b="1">
                <a:solidFill>
                  <a:srgbClr val="173F36"/>
                </a:solidFill>
                <a:latin typeface="Aptos"/>
                <a:ea typeface="Aptos"/>
                <a:cs typeface="Aptos"/>
              </a:rPr>
              <a:t>Pin inputs &amp; isolate</a:t>
            </a:r>
          </a:p>
        </p:txBody>
      </p:sp>
      <p:sp>
        <p:nvSpPr>
          <p:cNvPr id="22" name="">
            <a:extLst xmlns:a="http://schemas.openxmlformats.org/drawingml/2006/main">
              <a:ext uri="{FF2B5EF4-FFF2-40B4-BE49-F238E27FC236}">
                <a16:creationId xmlns:a16="http://schemas.microsoft.com/office/drawing/2014/main" id="{DB174718-6833-45A8-A9DB-F527A52B57B4}"/>
              </a:ext>
            </a:extLst>
          </p:cNvPr>
          <p:cNvSpPr>
            <a:spLocks xmlns:a="http://schemas.openxmlformats.org/drawingml/2006/main" noGrp="1"/>
          </p:cNvSpPr>
          <p:nvPr/>
        </p:nvSpPr>
        <p:spPr>
          <a:xfrm xmlns:a="http://schemas.openxmlformats.org/drawingml/2006/main">
            <a:off x="5848350" y="2552700"/>
            <a:ext cx="5543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3675F"/>
                </a:solidFill>
                <a:latin typeface="Aptos"/>
                <a:ea typeface="Aptos"/>
                <a:cs typeface="Aptos"/>
              </a:defRPr>
            </a:pPr>
            <a:r>
              <a:rPr sz="1425" b="0">
                <a:solidFill>
                  <a:srgbClr val="53675F"/>
                </a:solidFill>
                <a:latin typeface="Aptos"/>
                <a:ea typeface="Aptos"/>
                <a:cs typeface="Aptos"/>
              </a:rPr>
              <a:t>Source / compiled code • fixture • Host identity</a:t>
            </a:r>
          </a:p>
        </p:txBody>
      </p:sp>
      <p:sp>
        <p:nvSpPr>
          <p:cNvPr id="23" name="">
            <a:extLst xmlns:a="http://schemas.openxmlformats.org/drawingml/2006/main">
              <a:ext uri="{FF2B5EF4-FFF2-40B4-BE49-F238E27FC236}">
                <a16:creationId xmlns:a16="http://schemas.microsoft.com/office/drawing/2014/main" id="{B8391A00-7C80-427D-A310-DCA822B00837}"/>
              </a:ext>
            </a:extLst>
          </p:cNvPr>
          <p:cNvSpPr>
            <a:spLocks xmlns:a="http://schemas.openxmlformats.org/drawingml/2006/main" noGrp="1"/>
          </p:cNvSpPr>
          <p:nvPr/>
        </p:nvSpPr>
        <p:spPr>
          <a:xfrm xmlns:a="http://schemas.openxmlformats.org/drawingml/2006/main">
            <a:off x="8620125" y="2895600"/>
            <a:ext cx="9525" cy="9525"/>
          </a:xfrm>
          <a:prstGeom xmlns:a="http://schemas.openxmlformats.org/drawingml/2006/main" prst="rect">
            <a:avLst/>
          </a:prstGeom>
          <a:noFill xmlns:a="http://schemas.openxmlformats.org/drawingml/2006/main"/>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F6B351A9-4BA8-4128-A558-6A1A18EF4496}"/>
              </a:ext>
            </a:extLst>
          </p:cNvPr>
          <p:cNvSpPr>
            <a:spLocks xmlns:a="http://schemas.openxmlformats.org/drawingml/2006/main" noGrp="1"/>
          </p:cNvSpPr>
          <p:nvPr/>
        </p:nvSpPr>
        <p:spPr>
          <a:xfrm xmlns:a="http://schemas.openxmlformats.org/drawingml/2006/main">
            <a:off x="8620125" y="302895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67" name=""/>
          <p:cNvCxnSpPr>
            <a:stCxn xmlns:a="http://schemas.openxmlformats.org/drawingml/2006/main" id="23" idx="2"/>
            <a:endCxn xmlns:a="http://schemas.openxmlformats.org/drawingml/2006/main" id="24" idx="0"/>
          </p:cNvCxnSpPr>
          <p:nvPr/>
        </p:nvCxnSpPr>
        <p:spPr>
          <a:xfrm xmlns:a="http://schemas.openxmlformats.org/drawingml/2006/main">
            <a:off x="8624888" y="2905125"/>
            <a:ext cx="0" cy="123825"/>
          </a:xfrm>
          <a:prstGeom xmlns:a="http://schemas.openxmlformats.org/drawingml/2006/main" prst="straightConnector1">
            <a:avLst/>
          </a:prstGeom>
          <a:ln xmlns:a="http://schemas.openxmlformats.org/drawingml/2006/main" w="19050">
            <a:solidFill>
              <a:srgbClr val="087E60"/>
            </a:solidFill>
            <a:tailEnd type="arrow" w="sm" len="sm"/>
          </a:ln>
        </p:spPr>
      </p:cxnSp>
      <p:sp>
        <p:nvSpPr>
          <p:cNvPr id="26" name="">
            <a:extLst xmlns:a="http://schemas.openxmlformats.org/drawingml/2006/main">
              <a:ext uri="{FF2B5EF4-FFF2-40B4-BE49-F238E27FC236}">
                <a16:creationId xmlns:a16="http://schemas.microsoft.com/office/drawing/2014/main" id="{5A5B54BA-8B14-4B27-9412-9C881D116938}"/>
              </a:ext>
            </a:extLst>
          </p:cNvPr>
          <p:cNvSpPr>
            <a:spLocks xmlns:a="http://schemas.openxmlformats.org/drawingml/2006/main" noGrp="1"/>
          </p:cNvSpPr>
          <p:nvPr/>
        </p:nvSpPr>
        <p:spPr>
          <a:xfrm xmlns:a="http://schemas.openxmlformats.org/drawingml/2006/main">
            <a:off x="5657850" y="3076575"/>
            <a:ext cx="5924550" cy="800100"/>
          </a:xfrm>
          <a:prstGeom xmlns:a="http://schemas.openxmlformats.org/drawingml/2006/main" prst="rect">
            <a:avLst/>
          </a:prstGeom>
          <a:solidFill xmlns:a="http://schemas.openxmlformats.org/drawingml/2006/main">
            <a:srgbClr val="EFF5F0"/>
          </a:solidFill>
          <a:ln xmlns:a="http://schemas.openxmlformats.org/drawingml/2006/main" w="9525">
            <a:solidFill>
              <a:srgbClr val="D5E0D9"/>
            </a:solidFill>
          </a:ln>
        </p:spPr>
      </p:sp>
      <p:sp>
        <p:nvSpPr>
          <p:cNvPr id="27" name="">
            <a:extLst xmlns:a="http://schemas.openxmlformats.org/drawingml/2006/main">
              <a:ext uri="{FF2B5EF4-FFF2-40B4-BE49-F238E27FC236}">
                <a16:creationId xmlns:a16="http://schemas.microsoft.com/office/drawing/2014/main" id="{B828F3D9-3F8D-4611-88A2-55D641A1E75D}"/>
              </a:ext>
            </a:extLst>
          </p:cNvPr>
          <p:cNvSpPr>
            <a:spLocks xmlns:a="http://schemas.openxmlformats.org/drawingml/2006/main" noGrp="1"/>
          </p:cNvSpPr>
          <p:nvPr/>
        </p:nvSpPr>
        <p:spPr>
          <a:xfrm xmlns:a="http://schemas.openxmlformats.org/drawingml/2006/main">
            <a:off x="5848350" y="3171825"/>
            <a:ext cx="5543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173F36"/>
                </a:solidFill>
                <a:latin typeface="Aptos"/>
                <a:ea typeface="Aptos"/>
                <a:cs typeface="Aptos"/>
              </a:defRPr>
            </a:pPr>
            <a:r>
              <a:rPr sz="2025" b="1">
                <a:solidFill>
                  <a:srgbClr val="173F36"/>
                </a:solidFill>
                <a:latin typeface="Aptos"/>
                <a:ea typeface="Aptos"/>
                <a:cs typeface="Aptos"/>
              </a:rPr>
              <a:t>Invoke the real tool</a:t>
            </a:r>
          </a:p>
        </p:txBody>
      </p:sp>
      <p:sp>
        <p:nvSpPr>
          <p:cNvPr id="28" name="">
            <a:extLst xmlns:a="http://schemas.openxmlformats.org/drawingml/2006/main">
              <a:ext uri="{FF2B5EF4-FFF2-40B4-BE49-F238E27FC236}">
                <a16:creationId xmlns:a16="http://schemas.microsoft.com/office/drawing/2014/main" id="{E19B31C4-3131-4C67-932A-0A2AAAE9D57A}"/>
              </a:ext>
            </a:extLst>
          </p:cNvPr>
          <p:cNvSpPr>
            <a:spLocks xmlns:a="http://schemas.openxmlformats.org/drawingml/2006/main" noGrp="1"/>
          </p:cNvSpPr>
          <p:nvPr/>
        </p:nvSpPr>
        <p:spPr>
          <a:xfrm xmlns:a="http://schemas.openxmlformats.org/drawingml/2006/main">
            <a:off x="5848350" y="3562350"/>
            <a:ext cx="5543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53675F"/>
                </a:solidFill>
                <a:latin typeface="Aptos"/>
                <a:ea typeface="Aptos"/>
                <a:cs typeface="Aptos"/>
              </a:defRPr>
            </a:pPr>
            <a:r>
              <a:rPr sz="1425" b="0">
                <a:solidFill>
                  <a:srgbClr val="53675F"/>
                </a:solidFill>
                <a:latin typeface="Aptos"/>
                <a:ea typeface="Aptos"/>
                <a:cs typeface="Aptos"/>
              </a:rPr>
              <a:t>runTest.ts → Extension Host → etl_interpret_sttm</a:t>
            </a:r>
          </a:p>
        </p:txBody>
      </p:sp>
      <p:sp>
        <p:nvSpPr>
          <p:cNvPr id="29" name="">
            <a:extLst xmlns:a="http://schemas.openxmlformats.org/drawingml/2006/main">
              <a:ext uri="{FF2B5EF4-FFF2-40B4-BE49-F238E27FC236}">
                <a16:creationId xmlns:a16="http://schemas.microsoft.com/office/drawing/2014/main" id="{33E02577-F3A3-4359-8E2D-D259A2DCE94B}"/>
              </a:ext>
            </a:extLst>
          </p:cNvPr>
          <p:cNvSpPr>
            <a:spLocks xmlns:a="http://schemas.openxmlformats.org/drawingml/2006/main" noGrp="1"/>
          </p:cNvSpPr>
          <p:nvPr/>
        </p:nvSpPr>
        <p:spPr>
          <a:xfrm xmlns:a="http://schemas.openxmlformats.org/drawingml/2006/main">
            <a:off x="8620125" y="3905250"/>
            <a:ext cx="9525" cy="9525"/>
          </a:xfrm>
          <a:prstGeom xmlns:a="http://schemas.openxmlformats.org/drawingml/2006/main" prst="rect">
            <a:avLst/>
          </a:prstGeom>
          <a:noFill xmlns:a="http://schemas.openxmlformats.org/drawingml/2006/main"/>
          <a:ln xmlns:a="http://schemas.openxmlformats.org/drawingml/2006/main" w="0">
            <a:noFill/>
          </a:ln>
        </p:spPr>
      </p:sp>
      <p:sp>
        <p:nvSpPr>
          <p:cNvPr id="30" name="">
            <a:extLst xmlns:a="http://schemas.openxmlformats.org/drawingml/2006/main">
              <a:ext uri="{FF2B5EF4-FFF2-40B4-BE49-F238E27FC236}">
                <a16:creationId xmlns:a16="http://schemas.microsoft.com/office/drawing/2014/main" id="{09440A36-BA1F-429D-A0AD-DE6631D9D674}"/>
              </a:ext>
            </a:extLst>
          </p:cNvPr>
          <p:cNvSpPr>
            <a:spLocks xmlns:a="http://schemas.openxmlformats.org/drawingml/2006/main" noGrp="1"/>
          </p:cNvSpPr>
          <p:nvPr/>
        </p:nvSpPr>
        <p:spPr>
          <a:xfrm xmlns:a="http://schemas.openxmlformats.org/drawingml/2006/main">
            <a:off x="8620125" y="4038600"/>
            <a:ext cx="9525" cy="9525"/>
          </a:xfrm>
          <a:prstGeom xmlns:a="http://schemas.openxmlformats.org/drawingml/2006/main" prst="rect">
            <a:avLst/>
          </a:prstGeom>
          <a:noFill xmlns:a="http://schemas.openxmlformats.org/drawingml/2006/main"/>
          <a:ln xmlns:a="http://schemas.openxmlformats.org/drawingml/2006/main" w="0">
            <a:noFill/>
          </a:ln>
        </p:spPr>
      </p:sp>
      <p:cxnSp>
        <p:nvCxnSpPr>
          <p:cNvPr id="73" name=""/>
          <p:cNvCxnSpPr>
            <a:stCxn xmlns:a="http://schemas.openxmlformats.org/drawingml/2006/main" id="29" idx="2"/>
            <a:endCxn xmlns:a="http://schemas.openxmlformats.org/drawingml/2006/main" id="30" idx="0"/>
          </p:cNvCxnSpPr>
          <p:nvPr/>
        </p:nvCxnSpPr>
        <p:spPr>
          <a:xfrm xmlns:a="http://schemas.openxmlformats.org/drawingml/2006/main">
            <a:off x="8624888" y="3914775"/>
            <a:ext cx="0" cy="123825"/>
          </a:xfrm>
          <a:prstGeom xmlns:a="http://schemas.openxmlformats.org/drawingml/2006/main" prst="straightConnector1">
            <a:avLst/>
          </a:prstGeom>
          <a:ln xmlns:a="http://schemas.openxmlformats.org/drawingml/2006/main" w="19050">
            <a:solidFill>
              <a:srgbClr val="087E60"/>
            </a:solidFill>
            <a:tailEnd type="arrow" w="sm" len="sm"/>
          </a:ln>
        </p:spPr>
      </p:cxnSp>
      <p:sp>
        <p:nvSpPr>
          <p:cNvPr id="32" name="">
            <a:extLst xmlns:a="http://schemas.openxmlformats.org/drawingml/2006/main">
              <a:ext uri="{FF2B5EF4-FFF2-40B4-BE49-F238E27FC236}">
                <a16:creationId xmlns:a16="http://schemas.microsoft.com/office/drawing/2014/main" id="{162CC5AC-7252-487A-B493-36080B38DD3B}"/>
              </a:ext>
            </a:extLst>
          </p:cNvPr>
          <p:cNvSpPr>
            <a:spLocks xmlns:a="http://schemas.openxmlformats.org/drawingml/2006/main" noGrp="1"/>
          </p:cNvSpPr>
          <p:nvPr/>
        </p:nvSpPr>
        <p:spPr>
          <a:xfrm xmlns:a="http://schemas.openxmlformats.org/drawingml/2006/main">
            <a:off x="5657850" y="4086225"/>
            <a:ext cx="5924550" cy="800100"/>
          </a:xfrm>
          <a:prstGeom xmlns:a="http://schemas.openxmlformats.org/drawingml/2006/main" prst="rect">
            <a:avLst/>
          </a:prstGeom>
          <a:solidFill xmlns:a="http://schemas.openxmlformats.org/drawingml/2006/main">
            <a:srgbClr val="173F36"/>
          </a:solidFill>
          <a:ln xmlns:a="http://schemas.openxmlformats.org/drawingml/2006/main" w="9525">
            <a:solidFill>
              <a:srgbClr val="D5E0D9"/>
            </a:solidFill>
          </a:ln>
        </p:spPr>
      </p:sp>
      <p:sp>
        <p:nvSpPr>
          <p:cNvPr id="33" name="">
            <a:extLst xmlns:a="http://schemas.openxmlformats.org/drawingml/2006/main">
              <a:ext uri="{FF2B5EF4-FFF2-40B4-BE49-F238E27FC236}">
                <a16:creationId xmlns:a16="http://schemas.microsoft.com/office/drawing/2014/main" id="{C28BB542-4281-437F-8F0E-E336314D42EC}"/>
              </a:ext>
            </a:extLst>
          </p:cNvPr>
          <p:cNvSpPr>
            <a:spLocks xmlns:a="http://schemas.openxmlformats.org/drawingml/2006/main" noGrp="1"/>
          </p:cNvSpPr>
          <p:nvPr/>
        </p:nvSpPr>
        <p:spPr>
          <a:xfrm xmlns:a="http://schemas.openxmlformats.org/drawingml/2006/main">
            <a:off x="5848350" y="4181475"/>
            <a:ext cx="5543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1">
                <a:solidFill>
                  <a:srgbClr val="FFFFFF"/>
                </a:solidFill>
                <a:latin typeface="Aptos"/>
                <a:ea typeface="Aptos"/>
                <a:cs typeface="Aptos"/>
              </a:defRPr>
            </a:pPr>
            <a:r>
              <a:rPr sz="2025" b="1">
                <a:solidFill>
                  <a:srgbClr val="FFFFFF"/>
                </a:solidFill>
                <a:latin typeface="Aptos"/>
                <a:ea typeface="Aptos"/>
                <a:cs typeface="Aptos"/>
              </a:rPr>
              <a:t>Record → evaluate → persist</a:t>
            </a:r>
          </a:p>
        </p:txBody>
      </p:sp>
      <p:sp>
        <p:nvSpPr>
          <p:cNvPr id="34" name="">
            <a:extLst xmlns:a="http://schemas.openxmlformats.org/drawingml/2006/main">
              <a:ext uri="{FF2B5EF4-FFF2-40B4-BE49-F238E27FC236}">
                <a16:creationId xmlns:a16="http://schemas.microsoft.com/office/drawing/2014/main" id="{A5D7FBBC-4353-4493-B3BB-2F0DCA0EA138}"/>
              </a:ext>
            </a:extLst>
          </p:cNvPr>
          <p:cNvSpPr>
            <a:spLocks xmlns:a="http://schemas.openxmlformats.org/drawingml/2006/main" noGrp="1"/>
          </p:cNvSpPr>
          <p:nvPr/>
        </p:nvSpPr>
        <p:spPr>
          <a:xfrm xmlns:a="http://schemas.openxmlformats.org/drawingml/2006/main">
            <a:off x="5848350" y="4572000"/>
            <a:ext cx="55435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a:solidFill>
                  <a:srgbClr val="C7EC83"/>
                </a:solidFill>
                <a:latin typeface="Aptos"/>
                <a:ea typeface="Aptos"/>
                <a:cs typeface="Aptos"/>
              </a:defRPr>
            </a:pPr>
            <a:r>
              <a:rPr sz="1425" b="0">
                <a:solidFill>
                  <a:srgbClr val="C7EC83"/>
                </a:solidFill>
                <a:latin typeface="Aptos"/>
                <a:ea typeface="Aptos"/>
                <a:cs typeface="Aptos"/>
              </a:rPr>
              <a:t>Raw parts + comparisons → canonical verdict + report</a:t>
            </a:r>
          </a:p>
        </p:txBody>
      </p:sp>
      <p:sp>
        <p:nvSpPr>
          <p:cNvPr id="35" name="">
            <a:extLst xmlns:a="http://schemas.openxmlformats.org/drawingml/2006/main">
              <a:ext uri="{FF2B5EF4-FFF2-40B4-BE49-F238E27FC236}">
                <a16:creationId xmlns:a16="http://schemas.microsoft.com/office/drawing/2014/main" id="{2DE53EE5-2120-4E50-AAAE-2459F7B66217}"/>
              </a:ext>
            </a:extLst>
          </p:cNvPr>
          <p:cNvSpPr>
            <a:spLocks xmlns:a="http://schemas.openxmlformats.org/drawingml/2006/main" noGrp="1"/>
          </p:cNvSpPr>
          <p:nvPr/>
        </p:nvSpPr>
        <p:spPr>
          <a:xfrm xmlns:a="http://schemas.openxmlformats.org/drawingml/2006/main">
            <a:off x="5657850" y="5229225"/>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87E60"/>
                </a:solidFill>
                <a:latin typeface="Aptos"/>
                <a:ea typeface="Aptos"/>
                <a:cs typeface="Aptos"/>
              </a:defRPr>
            </a:pPr>
            <a:r>
              <a:rPr sz="1950" b="1">
                <a:solidFill>
                  <a:srgbClr val="087E60"/>
                </a:solidFill>
                <a:latin typeface="Aptos"/>
                <a:ea typeface="Aptos"/>
                <a:cs typeface="Aptos"/>
              </a:rPr>
              <a:t>PASS</a:t>
            </a:r>
          </a:p>
        </p:txBody>
      </p:sp>
      <p:sp>
        <p:nvSpPr>
          <p:cNvPr id="36" name="">
            <a:extLst xmlns:a="http://schemas.openxmlformats.org/drawingml/2006/main">
              <a:ext uri="{FF2B5EF4-FFF2-40B4-BE49-F238E27FC236}">
                <a16:creationId xmlns:a16="http://schemas.microsoft.com/office/drawing/2014/main" id="{E1B37311-4ADD-45BD-A726-45494CC575DF}"/>
              </a:ext>
            </a:extLst>
          </p:cNvPr>
          <p:cNvSpPr>
            <a:spLocks xmlns:a="http://schemas.openxmlformats.org/drawingml/2006/main" noGrp="1"/>
          </p:cNvSpPr>
          <p:nvPr/>
        </p:nvSpPr>
        <p:spPr>
          <a:xfrm xmlns:a="http://schemas.openxmlformats.org/drawingml/2006/main">
            <a:off x="5657850" y="5648325"/>
            <a:ext cx="1943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3675F"/>
                </a:solidFill>
                <a:latin typeface="Aptos"/>
                <a:ea typeface="Aptos"/>
                <a:cs typeface="Aptos"/>
              </a:defRPr>
            </a:pPr>
            <a:r>
              <a:rPr sz="1350" b="0">
                <a:solidFill>
                  <a:srgbClr val="53675F"/>
                </a:solidFill>
                <a:latin typeface="Aptos"/>
                <a:ea typeface="Aptos"/>
                <a:cs typeface="Aptos"/>
              </a:rPr>
              <a:t>Required checks pass</a:t>
            </a:r>
          </a:p>
        </p:txBody>
      </p:sp>
      <p:sp>
        <p:nvSpPr>
          <p:cNvPr id="37" name="">
            <a:extLst xmlns:a="http://schemas.openxmlformats.org/drawingml/2006/main">
              <a:ext uri="{FF2B5EF4-FFF2-40B4-BE49-F238E27FC236}">
                <a16:creationId xmlns:a16="http://schemas.microsoft.com/office/drawing/2014/main" id="{8952EBDF-C3D0-4078-B53C-B57CE57B5CAC}"/>
              </a:ext>
            </a:extLst>
          </p:cNvPr>
          <p:cNvSpPr>
            <a:spLocks xmlns:a="http://schemas.openxmlformats.org/drawingml/2006/main" noGrp="1"/>
          </p:cNvSpPr>
          <p:nvPr/>
        </p:nvSpPr>
        <p:spPr>
          <a:xfrm xmlns:a="http://schemas.openxmlformats.org/drawingml/2006/main">
            <a:off x="7686675" y="5229225"/>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87E60"/>
                </a:solidFill>
                <a:latin typeface="Aptos"/>
                <a:ea typeface="Aptos"/>
                <a:cs typeface="Aptos"/>
              </a:defRPr>
            </a:pPr>
            <a:r>
              <a:rPr sz="1950" b="1">
                <a:solidFill>
                  <a:srgbClr val="087E60"/>
                </a:solidFill>
                <a:latin typeface="Aptos"/>
                <a:ea typeface="Aptos"/>
                <a:cs typeface="Aptos"/>
              </a:rPr>
              <a:t>FAIL</a:t>
            </a:r>
          </a:p>
        </p:txBody>
      </p:sp>
      <p:sp>
        <p:nvSpPr>
          <p:cNvPr id="38" name="">
            <a:extLst xmlns:a="http://schemas.openxmlformats.org/drawingml/2006/main">
              <a:ext uri="{FF2B5EF4-FFF2-40B4-BE49-F238E27FC236}">
                <a16:creationId xmlns:a16="http://schemas.microsoft.com/office/drawing/2014/main" id="{E946CF55-8D1B-4841-8E85-FED36CF30D66}"/>
              </a:ext>
            </a:extLst>
          </p:cNvPr>
          <p:cNvSpPr>
            <a:spLocks xmlns:a="http://schemas.openxmlformats.org/drawingml/2006/main" noGrp="1"/>
          </p:cNvSpPr>
          <p:nvPr/>
        </p:nvSpPr>
        <p:spPr>
          <a:xfrm xmlns:a="http://schemas.openxmlformats.org/drawingml/2006/main">
            <a:off x="7686675" y="5648325"/>
            <a:ext cx="1943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3675F"/>
                </a:solidFill>
                <a:latin typeface="Aptos"/>
                <a:ea typeface="Aptos"/>
                <a:cs typeface="Aptos"/>
              </a:defRPr>
            </a:pPr>
            <a:r>
              <a:rPr sz="1350" b="0">
                <a:solidFill>
                  <a:srgbClr val="53675F"/>
                </a:solidFill>
                <a:latin typeface="Aptos"/>
                <a:ea typeface="Aptos"/>
                <a:cs typeface="Aptos"/>
              </a:rPr>
              <a:t>Product mismatch</a:t>
            </a:r>
          </a:p>
        </p:txBody>
      </p:sp>
      <p:sp>
        <p:nvSpPr>
          <p:cNvPr id="39" name="">
            <a:extLst xmlns:a="http://schemas.openxmlformats.org/drawingml/2006/main">
              <a:ext uri="{FF2B5EF4-FFF2-40B4-BE49-F238E27FC236}">
                <a16:creationId xmlns:a16="http://schemas.microsoft.com/office/drawing/2014/main" id="{430D58A0-296B-4A77-BCC8-7842D7D2E968}"/>
              </a:ext>
            </a:extLst>
          </p:cNvPr>
          <p:cNvSpPr>
            <a:spLocks xmlns:a="http://schemas.openxmlformats.org/drawingml/2006/main" noGrp="1"/>
          </p:cNvSpPr>
          <p:nvPr/>
        </p:nvSpPr>
        <p:spPr>
          <a:xfrm xmlns:a="http://schemas.openxmlformats.org/drawingml/2006/main">
            <a:off x="9715500" y="5229225"/>
            <a:ext cx="195262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1">
                <a:solidFill>
                  <a:srgbClr val="087E60"/>
                </a:solidFill>
                <a:latin typeface="Aptos"/>
                <a:ea typeface="Aptos"/>
                <a:cs typeface="Aptos"/>
              </a:defRPr>
            </a:pPr>
            <a:r>
              <a:rPr sz="1950" b="1">
                <a:solidFill>
                  <a:srgbClr val="087E60"/>
                </a:solidFill>
                <a:latin typeface="Aptos"/>
                <a:ea typeface="Aptos"/>
                <a:cs typeface="Aptos"/>
              </a:rPr>
              <a:t>BLOCKED</a:t>
            </a:r>
          </a:p>
        </p:txBody>
      </p:sp>
      <p:sp>
        <p:nvSpPr>
          <p:cNvPr id="40" name="">
            <a:extLst xmlns:a="http://schemas.openxmlformats.org/drawingml/2006/main">
              <a:ext uri="{FF2B5EF4-FFF2-40B4-BE49-F238E27FC236}">
                <a16:creationId xmlns:a16="http://schemas.microsoft.com/office/drawing/2014/main" id="{BA00EBCD-0421-4005-9DF6-836184F0C884}"/>
              </a:ext>
            </a:extLst>
          </p:cNvPr>
          <p:cNvSpPr>
            <a:spLocks xmlns:a="http://schemas.openxmlformats.org/drawingml/2006/main" noGrp="1"/>
          </p:cNvSpPr>
          <p:nvPr/>
        </p:nvSpPr>
        <p:spPr>
          <a:xfrm xmlns:a="http://schemas.openxmlformats.org/drawingml/2006/main">
            <a:off x="9715500" y="5648325"/>
            <a:ext cx="19431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a:solidFill>
                  <a:srgbClr val="53675F"/>
                </a:solidFill>
                <a:latin typeface="Aptos"/>
                <a:ea typeface="Aptos"/>
                <a:cs typeface="Aptos"/>
              </a:defRPr>
            </a:pPr>
            <a:r>
              <a:rPr sz="1350" b="0">
                <a:solidFill>
                  <a:srgbClr val="53675F"/>
                </a:solidFill>
                <a:latin typeface="Aptos"/>
                <a:ea typeface="Aptos"/>
                <a:cs typeface="Aptos"/>
              </a:rPr>
              <a:t>Untrusted / missing evidence</a:t>
            </a:r>
          </a:p>
        </p:txBody>
      </p:sp>
      <p:sp>
        <p:nvSpPr>
          <p:cNvPr id="41" name="">
            <a:extLst xmlns:a="http://schemas.openxmlformats.org/drawingml/2006/main">
              <a:ext uri="{FF2B5EF4-FFF2-40B4-BE49-F238E27FC236}">
                <a16:creationId xmlns:a16="http://schemas.microsoft.com/office/drawing/2014/main" id="{09E7717F-7537-4280-8E19-A6D7DE9C7F0E}"/>
              </a:ext>
            </a:extLst>
          </p:cNvPr>
          <p:cNvSpPr>
            <a:spLocks xmlns:a="http://schemas.openxmlformats.org/drawingml/2006/main" noGrp="1"/>
          </p:cNvSpPr>
          <p:nvPr/>
        </p:nvSpPr>
        <p:spPr>
          <a:xfrm xmlns:a="http://schemas.openxmlformats.org/drawingml/2006/main">
            <a:off x="609600" y="64198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3675F"/>
                </a:solidFill>
                <a:latin typeface="Aptos"/>
                <a:ea typeface="Aptos"/>
                <a:cs typeface="Aptos"/>
              </a:defRPr>
            </a:pPr>
            <a:r>
              <a:rPr sz="1125" b="0">
                <a:solidFill>
                  <a:srgbClr val="53675F"/>
                </a:solidFill>
                <a:latin typeface="Aptos"/>
                <a:ea typeface="Aptos"/>
                <a:cs typeface="Aptos"/>
              </a:rPr>
              <a:t>Reuse fixtures and helpers. Run affected tests. Keep permanent regressions and independent review.</a:t>
            </a:r>
          </a:p>
        </p:txBody>
      </p:sp>
      <p:sp>
        <p:nvSpPr>
          <p:cNvPr id="42" name="">
            <a:extLst xmlns:a="http://schemas.openxmlformats.org/drawingml/2006/main">
              <a:ext uri="{FF2B5EF4-FFF2-40B4-BE49-F238E27FC236}">
                <a16:creationId xmlns:a16="http://schemas.microsoft.com/office/drawing/2014/main" id="{6ED47A24-BDFA-4425-A38D-B919BBECD4D7}"/>
              </a:ext>
            </a:extLst>
          </p:cNvPr>
          <p:cNvSpPr>
            <a:spLocks xmlns:a="http://schemas.openxmlformats.org/drawingml/2006/main" noGrp="1"/>
          </p:cNvSpPr>
          <p:nvPr/>
        </p:nvSpPr>
        <p:spPr>
          <a:xfrm xmlns:a="http://schemas.openxmlformats.org/drawingml/2006/main">
            <a:off x="11049000" y="64008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1">
                <a:solidFill>
                  <a:srgbClr val="087E60"/>
                </a:solidFill>
                <a:latin typeface="Aptos"/>
                <a:ea typeface="Aptos"/>
                <a:cs typeface="Aptos"/>
              </a:defRPr>
            </a:pPr>
            <a:r>
              <a:rPr sz="1275" b="1">
                <a:solidFill>
                  <a:srgbClr val="087E60"/>
                </a:solidFill>
                <a:latin typeface="Aptos"/>
                <a:ea typeface="Aptos"/>
                <a:cs typeface="Aptos"/>
              </a:rPr>
              <a:t>05</a:t>
            </a:r>
          </a:p>
        </p:txBody>
      </p:sp>
    </p:spTree>
    <p:extLst>
      <p:ext uri="{BB962C8B-B14F-4D97-AF65-F5344CB8AC3E}">
        <p14:creationId xmlns:p14="http://schemas.microsoft.com/office/powerpoint/2010/main" val="21090126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648E9021-FAD2-414C-8592-8793165BE583}"/>
              </a:ext>
            </a:extLst>
          </p:cNvPr>
          <p:cNvSpPr>
            <a:spLocks xmlns:a="http://schemas.openxmlformats.org/drawingml/2006/main" noGrp="1"/>
          </p:cNvSpPr>
          <p:nvPr/>
        </p:nvSpPr>
        <p:spPr>
          <a:xfrm xmlns:a="http://schemas.openxmlformats.org/drawingml/2006/main">
            <a:off x="609600" y="381000"/>
            <a:ext cx="109728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173F36"/>
                </a:solidFill>
                <a:latin typeface="Aptos"/>
                <a:ea typeface="Aptos"/>
                <a:cs typeface="Aptos"/>
              </a:defRPr>
            </a:pPr>
            <a:r>
              <a:rPr sz="3225" b="1">
                <a:solidFill>
                  <a:srgbClr val="173F36"/>
                </a:solidFill>
                <a:latin typeface="Aptos"/>
                <a:ea typeface="Aptos"/>
                <a:cs typeface="Aptos"/>
              </a:rPr>
              <a:t>Where ETL Copilot differs from Forge</a:t>
            </a:r>
          </a:p>
        </p:txBody>
      </p:sp>
      <p:sp>
        <p:nvSpPr>
          <p:cNvPr id="2" name="">
            <a:extLst xmlns:a="http://schemas.openxmlformats.org/drawingml/2006/main">
              <a:ext uri="{FF2B5EF4-FFF2-40B4-BE49-F238E27FC236}">
                <a16:creationId xmlns:a16="http://schemas.microsoft.com/office/drawing/2014/main" id="{67F01A0E-6CBB-4487-9EA4-58671553460D}"/>
              </a:ext>
            </a:extLst>
          </p:cNvPr>
          <p:cNvSpPr>
            <a:spLocks xmlns:a="http://schemas.openxmlformats.org/drawingml/2006/main" noGrp="1"/>
          </p:cNvSpPr>
          <p:nvPr/>
        </p:nvSpPr>
        <p:spPr>
          <a:xfrm xmlns:a="http://schemas.openxmlformats.org/drawingml/2006/main">
            <a:off x="609600" y="1047750"/>
            <a:ext cx="10972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650" b="0">
                <a:solidFill>
                  <a:srgbClr val="53675F"/>
                </a:solidFill>
                <a:latin typeface="Aptos"/>
                <a:ea typeface="Aptos"/>
                <a:cs typeface="Aptos"/>
              </a:defRPr>
            </a:pPr>
            <a:r>
              <a:rPr sz="1650" b="0">
                <a:solidFill>
                  <a:srgbClr val="53675F"/>
                </a:solidFill>
                <a:latin typeface="Aptos"/>
                <a:ea typeface="Aptos"/>
                <a:cs typeface="Aptos"/>
              </a:rPr>
              <a:t>ETL Copilot adds an executable product layer; Forge contributes broad engineering knowledge.</a:t>
            </a:r>
          </a:p>
        </p:txBody>
      </p:sp>
      <p:graphicFrame>
        <p:nvGraphicFramePr>
          <p:cNvPr id="10" name=""/>
          <p:cNvGraphicFramePr/>
          <p:nvPr/>
        </p:nvGraphicFramePr>
        <p:xfrm>
          <a:off xmlns:a="http://schemas.openxmlformats.org/drawingml/2006/main" x="609600" y="1781175"/>
          <a:ext xmlns:a="http://schemas.openxmlformats.org/drawingml/2006/main" cx="10972800" cy="3514725"/>
        </p:xfrm>
        <a:graphic xmlns:a="http://schemas.openxmlformats.org/drawingml/2006/main">
          <a:graphicData uri="http://schemas.openxmlformats.org/drawingml/2006/table">
            <a:tbl>
              <a:tblPr firstRow="0" bandRow="0"/>
              <a:tblGrid>
                <a:gridCol w="2009775"/>
                <a:gridCol w="4486275"/>
                <a:gridCol w="4476750"/>
              </a:tblGrid>
              <a:tr h="466725">
                <a:tc>
                  <a:txBody>
                    <a:bodyPr/>
                    <a:lstStyle/>
                    <a:p>
                      <a:r>
                        <a:rPr sz="1575" b="1">
                          <a:solidFill>
                            <a:srgbClr val="FFFFFF"/>
                          </a:solidFill>
                          <a:latin typeface="Aptos"/>
                          <a:ea typeface="Aptos"/>
                          <a:cs typeface="Aptos"/>
                        </a:rPr>
                        <a:t>Dimension</a:t>
                      </a:r>
                    </a:p>
                  </a:txBody>
                  <a:tcPr marL="142875" marR="142875" marT="85725" marB="85725" anchor="ctr">
                    <a:solidFill>
                      <a:srgbClr val="173F36"/>
                    </a:solidFill>
                  </a:tcPr>
                </a:tc>
                <a:tc>
                  <a:txBody>
                    <a:bodyPr/>
                    <a:lstStyle/>
                    <a:p>
                      <a:r>
                        <a:rPr sz="1575" b="1">
                          <a:solidFill>
                            <a:srgbClr val="FFFFFF"/>
                          </a:solidFill>
                          <a:latin typeface="Aptos"/>
                          <a:ea typeface="Aptos"/>
                          <a:cs typeface="Aptos"/>
                        </a:rPr>
                        <a:t>ETL Copilot</a:t>
                      </a:r>
                    </a:p>
                  </a:txBody>
                  <a:tcPr marL="142875" marR="142875" marT="85725" marB="85725" anchor="ctr">
                    <a:solidFill>
                      <a:srgbClr val="173F36"/>
                    </a:solidFill>
                  </a:tcPr>
                </a:tc>
                <a:tc>
                  <a:txBody>
                    <a:bodyPr/>
                    <a:lstStyle/>
                    <a:p>
                      <a:r>
                        <a:rPr sz="1575" b="1">
                          <a:solidFill>
                            <a:srgbClr val="FFFFFF"/>
                          </a:solidFill>
                          <a:latin typeface="Aptos"/>
                          <a:ea typeface="Aptos"/>
                          <a:cs typeface="Aptos"/>
                        </a:rPr>
                        <a:t>Forge — audited scope</a:t>
                      </a:r>
                    </a:p>
                  </a:txBody>
                  <a:tcPr marL="142875" marR="142875" marT="85725" marB="85725" anchor="ctr">
                    <a:solidFill>
                      <a:srgbClr val="173F36"/>
                    </a:solidFill>
                  </a:tcPr>
                </a:tc>
              </a:tr>
              <a:tr h="762000">
                <a:tc>
                  <a:txBody>
                    <a:bodyPr/>
                    <a:lstStyle/>
                    <a:p>
                      <a:r>
                        <a:rPr sz="1650" b="1">
                          <a:solidFill>
                            <a:srgbClr val="173F36"/>
                          </a:solidFill>
                          <a:latin typeface="Aptos"/>
                          <a:ea typeface="Aptos"/>
                          <a:cs typeface="Aptos"/>
                        </a:rPr>
                        <a:t>Delivery model</a:t>
                      </a:r>
                    </a:p>
                  </a:txBody>
                  <a:tcPr marL="142875" marR="142875" marT="85725" marB="85725" anchor="ctr">
                    <a:solidFill>
                      <a:srgbClr val="FFFFFF"/>
                    </a:solidFill>
                  </a:tcPr>
                </a:tc>
                <a:tc>
                  <a:txBody>
                    <a:bodyPr/>
                    <a:lstStyle/>
                    <a:p>
                      <a:r>
                        <a:rPr sz="1650" b="0">
                          <a:solidFill>
                            <a:srgbClr val="173F36"/>
                          </a:solidFill>
                          <a:latin typeface="Aptos"/>
                          <a:ea typeface="Aptos"/>
                          <a:cs typeface="Aptos"/>
                        </a:rPr>
                        <a:t>Installed VSIX, consumer workflow,</a:t>
                      </a:r>
                    </a:p>
                    <a:p>
                      <a:r>
                        <a:rPr sz="1650" b="0">
                          <a:solidFill>
                            <a:srgbClr val="173F36"/>
                          </a:solidFill>
                          <a:latin typeface="Aptos"/>
                          <a:ea typeface="Aptos"/>
                          <a:cs typeface="Aptos"/>
                        </a:rPr>
                        <a:t>registered tools and provider adapters</a:t>
                      </a:r>
                    </a:p>
                  </a:txBody>
                  <a:tcPr marL="142875" marR="142875" marT="85725" marB="85725" anchor="ctr">
                    <a:solidFill>
                      <a:srgbClr val="FFFFFF"/>
                    </a:solidFill>
                  </a:tcPr>
                </a:tc>
                <a:tc>
                  <a:txBody>
                    <a:bodyPr/>
                    <a:lstStyle/>
                    <a:p>
                      <a:r>
                        <a:rPr sz="1650" b="0">
                          <a:solidFill>
                            <a:srgbClr val="173F36"/>
                          </a:solidFill>
                          <a:latin typeface="Aptos"/>
                          <a:ea typeface="Aptos"/>
                          <a:cs typeface="Aptos"/>
                        </a:rPr>
                        <a:t>Skills / knowledge repository with</a:t>
                      </a:r>
                    </a:p>
                    <a:p>
                      <a:r>
                        <a:rPr sz="1650" b="0">
                          <a:solidFill>
                            <a:srgbClr val="173F36"/>
                          </a:solidFill>
                          <a:latin typeface="Aptos"/>
                          <a:ea typeface="Aptos"/>
                          <a:cs typeface="Aptos"/>
                        </a:rPr>
                        <a:t>external agent-harness dependencies</a:t>
                      </a:r>
                    </a:p>
                  </a:txBody>
                  <a:tcPr marL="142875" marR="142875" marT="85725" marB="85725" anchor="ctr">
                    <a:solidFill>
                      <a:srgbClr val="FFFFFF"/>
                    </a:solidFill>
                  </a:tcPr>
                </a:tc>
              </a:tr>
              <a:tr h="762000">
                <a:tc>
                  <a:txBody>
                    <a:bodyPr/>
                    <a:lstStyle/>
                    <a:p>
                      <a:r>
                        <a:rPr sz="1650" b="1">
                          <a:solidFill>
                            <a:srgbClr val="173F36"/>
                          </a:solidFill>
                          <a:latin typeface="Aptos"/>
                          <a:ea typeface="Aptos"/>
                          <a:cs typeface="Aptos"/>
                        </a:rPr>
                        <a:t>Workflow strength</a:t>
                      </a:r>
                    </a:p>
                  </a:txBody>
                  <a:tcPr marL="142875" marR="142875" marT="85725" marB="85725" anchor="ctr">
                    <a:solidFill>
                      <a:srgbClr val="EFF5F0"/>
                    </a:solidFill>
                  </a:tcPr>
                </a:tc>
                <a:tc>
                  <a:txBody>
                    <a:bodyPr/>
                    <a:lstStyle/>
                    <a:p>
                      <a:r>
                        <a:rPr sz="1650" b="0">
                          <a:solidFill>
                            <a:srgbClr val="173F36"/>
                          </a:solidFill>
                          <a:latin typeface="Aptos"/>
                          <a:ea typeface="Aptos"/>
                          <a:cs typeface="Aptos"/>
                        </a:rPr>
                        <a:t>Native STTM interpretation, Framework</a:t>
                      </a:r>
                    </a:p>
                    <a:p>
                      <a:r>
                        <a:rPr sz="1650" b="0">
                          <a:solidFill>
                            <a:srgbClr val="173F36"/>
                          </a:solidFill>
                          <a:latin typeface="Aptos"/>
                          <a:ea typeface="Aptos"/>
                          <a:cs typeface="Aptos"/>
                        </a:rPr>
                        <a:t>artifacts, maintenance and diagnosis</a:t>
                      </a:r>
                    </a:p>
                  </a:txBody>
                  <a:tcPr marL="142875" marR="142875" marT="85725" marB="85725" anchor="ctr">
                    <a:solidFill>
                      <a:srgbClr val="EFF5F0"/>
                    </a:solidFill>
                  </a:tcPr>
                </a:tc>
                <a:tc>
                  <a:txBody>
                    <a:bodyPr/>
                    <a:lstStyle/>
                    <a:p>
                      <a:r>
                        <a:rPr sz="1650" b="0">
                          <a:solidFill>
                            <a:srgbClr val="173F36"/>
                          </a:solidFill>
                          <a:latin typeface="Aptos"/>
                          <a:ea typeface="Aptos"/>
                          <a:cs typeface="Aptos"/>
                        </a:rPr>
                        <a:t>Reverse engineering, requirements,</a:t>
                      </a:r>
                    </a:p>
                    <a:p>
                      <a:r>
                        <a:rPr sz="1650" b="0">
                          <a:solidFill>
                            <a:srgbClr val="173F36"/>
                          </a:solidFill>
                          <a:latin typeface="Aptos"/>
                          <a:ea typeface="Aptos"/>
                          <a:cs typeface="Aptos"/>
                        </a:rPr>
                        <a:t>PySpark guidance and reusable lessons</a:t>
                      </a:r>
                    </a:p>
                  </a:txBody>
                  <a:tcPr marL="142875" marR="142875" marT="85725" marB="85725" anchor="ctr">
                    <a:solidFill>
                      <a:srgbClr val="EFF5F0"/>
                    </a:solidFill>
                  </a:tcPr>
                </a:tc>
              </a:tr>
              <a:tr h="762000">
                <a:tc>
                  <a:txBody>
                    <a:bodyPr/>
                    <a:lstStyle/>
                    <a:p>
                      <a:r>
                        <a:rPr sz="1650" b="1">
                          <a:solidFill>
                            <a:srgbClr val="173F36"/>
                          </a:solidFill>
                          <a:latin typeface="Aptos"/>
                          <a:ea typeface="Aptos"/>
                          <a:cs typeface="Aptos"/>
                        </a:rPr>
                        <a:t>Execution control</a:t>
                      </a:r>
                    </a:p>
                  </a:txBody>
                  <a:tcPr marL="142875" marR="142875" marT="85725" marB="85725" anchor="ctr">
                    <a:solidFill>
                      <a:srgbClr val="FFFFFF"/>
                    </a:solidFill>
                  </a:tcPr>
                </a:tc>
                <a:tc>
                  <a:txBody>
                    <a:bodyPr/>
                    <a:lstStyle/>
                    <a:p>
                      <a:r>
                        <a:rPr sz="1650" b="0">
                          <a:solidFill>
                            <a:srgbClr val="173F36"/>
                          </a:solidFill>
                          <a:latin typeface="Aptos"/>
                          <a:ea typeface="Aptos"/>
                          <a:cs typeface="Aptos"/>
                        </a:rPr>
                        <a:t>Runtime validation, explicit target,</a:t>
                      </a:r>
                    </a:p>
                    <a:p>
                      <a:r>
                        <a:rPr sz="1650" b="0">
                          <a:solidFill>
                            <a:srgbClr val="173F36"/>
                          </a:solidFill>
                          <a:latin typeface="Aptos"/>
                          <a:ea typeface="Aptos"/>
                          <a:cs typeface="Aptos"/>
                        </a:rPr>
                        <a:t>approved plan and managed lifecycle</a:t>
                      </a:r>
                    </a:p>
                  </a:txBody>
                  <a:tcPr marL="142875" marR="142875" marT="85725" marB="85725" anchor="ctr">
                    <a:solidFill>
                      <a:srgbClr val="FFFFFF"/>
                    </a:solidFill>
                  </a:tcPr>
                </a:tc>
                <a:tc>
                  <a:txBody>
                    <a:bodyPr/>
                    <a:lstStyle/>
                    <a:p>
                      <a:r>
                        <a:rPr sz="1650" b="0">
                          <a:solidFill>
                            <a:srgbClr val="173F36"/>
                          </a:solidFill>
                          <a:latin typeface="Aptos"/>
                          <a:ea typeface="Aptos"/>
                          <a:cs typeface="Aptos"/>
                        </a:rPr>
                        <a:t>Guidance and helper scripts; equivalent</a:t>
                      </a:r>
                    </a:p>
                    <a:p>
                      <a:r>
                        <a:rPr sz="1650" b="0">
                          <a:solidFill>
                            <a:srgbClr val="173F36"/>
                          </a:solidFill>
                          <a:latin typeface="Aptos"/>
                          <a:ea typeface="Aptos"/>
                          <a:cs typeface="Aptos"/>
                        </a:rPr>
                        <a:t>guarded boundary not found in the audit</a:t>
                      </a:r>
                    </a:p>
                  </a:txBody>
                  <a:tcPr marL="142875" marR="142875" marT="85725" marB="85725" anchor="ctr">
                    <a:solidFill>
                      <a:srgbClr val="FFFFFF"/>
                    </a:solidFill>
                  </a:tcPr>
                </a:tc>
              </a:tr>
              <a:tr h="762000">
                <a:tc>
                  <a:txBody>
                    <a:bodyPr/>
                    <a:lstStyle/>
                    <a:p>
                      <a:r>
                        <a:rPr sz="1650" b="1">
                          <a:solidFill>
                            <a:srgbClr val="173F36"/>
                          </a:solidFill>
                          <a:latin typeface="Aptos"/>
                          <a:ea typeface="Aptos"/>
                          <a:cs typeface="Aptos"/>
                        </a:rPr>
                        <a:t>Evidence</a:t>
                      </a:r>
                    </a:p>
                  </a:txBody>
                  <a:tcPr marL="142875" marR="142875" marT="85725" marB="85725" anchor="ctr">
                    <a:solidFill>
                      <a:srgbClr val="EFF5F0"/>
                    </a:solidFill>
                  </a:tcPr>
                </a:tc>
                <a:tc>
                  <a:txBody>
                    <a:bodyPr/>
                    <a:lstStyle/>
                    <a:p>
                      <a:r>
                        <a:rPr sz="1650" b="0">
                          <a:solidFill>
                            <a:srgbClr val="173F36"/>
                          </a:solidFill>
                          <a:latin typeface="Aptos"/>
                          <a:ea typeface="Aptos"/>
                          <a:cs typeface="Aptos"/>
                        </a:rPr>
                        <a:t>Layered tests, real-host tooling</a:t>
                      </a:r>
                    </a:p>
                    <a:p>
                      <a:r>
                        <a:rPr sz="1650" b="0">
                          <a:solidFill>
                            <a:srgbClr val="173F36"/>
                          </a:solidFill>
                          <a:latin typeface="Aptos"/>
                          <a:ea typeface="Aptos"/>
                          <a:cs typeface="Aptos"/>
                        </a:rPr>
                        <a:t>and scoped installed-consumer checks</a:t>
                      </a:r>
                    </a:p>
                  </a:txBody>
                  <a:tcPr marL="142875" marR="142875" marT="85725" marB="85725" anchor="ctr">
                    <a:solidFill>
                      <a:srgbClr val="EFF5F0"/>
                    </a:solidFill>
                  </a:tcPr>
                </a:tc>
                <a:tc>
                  <a:txBody>
                    <a:bodyPr/>
                    <a:lstStyle/>
                    <a:p>
                      <a:r>
                        <a:rPr sz="1650" b="0">
                          <a:solidFill>
                            <a:srgbClr val="173F36"/>
                          </a:solidFill>
                          <a:latin typeface="Aptos"/>
                          <a:ea typeface="Aptos"/>
                          <a:cs typeface="Aptos"/>
                        </a:rPr>
                        <a:t>HOCON / structural checkers found;</a:t>
                      </a:r>
                    </a:p>
                    <a:p>
                      <a:r>
                        <a:rPr sz="1650" b="0">
                          <a:solidFill>
                            <a:srgbClr val="173F36"/>
                          </a:solidFill>
                          <a:latin typeface="Aptos"/>
                          <a:ea typeface="Aptos"/>
                          <a:cs typeface="Aptos"/>
                        </a:rPr>
                        <a:t>full pipeline execution not evidenced</a:t>
                      </a:r>
                    </a:p>
                  </a:txBody>
                  <a:tcPr marL="142875" marR="142875" marT="85725" marB="85725" anchor="ctr">
                    <a:solidFill>
                      <a:srgbClr val="EFF5F0"/>
                    </a:solidFill>
                  </a:tcPr>
                </a:tc>
              </a:tr>
            </a:tbl>
          </a:graphicData>
        </a:graphic>
      </p:graphicFrame>
      <p:sp>
        <p:nvSpPr>
          <p:cNvPr id="4" name="">
            <a:extLst xmlns:a="http://schemas.openxmlformats.org/drawingml/2006/main">
              <a:ext uri="{FF2B5EF4-FFF2-40B4-BE49-F238E27FC236}">
                <a16:creationId xmlns:a16="http://schemas.microsoft.com/office/drawing/2014/main" id="{558A4896-4F18-4CC5-9290-507435F1290B}"/>
              </a:ext>
            </a:extLst>
          </p:cNvPr>
          <p:cNvSpPr>
            <a:spLocks xmlns:a="http://schemas.openxmlformats.org/drawingml/2006/main" noGrp="1"/>
          </p:cNvSpPr>
          <p:nvPr/>
        </p:nvSpPr>
        <p:spPr>
          <a:xfrm xmlns:a="http://schemas.openxmlformats.org/drawingml/2006/main">
            <a:off x="609600" y="5600700"/>
            <a:ext cx="10972800" cy="619125"/>
          </a:xfrm>
          <a:prstGeom xmlns:a="http://schemas.openxmlformats.org/drawingml/2006/main" prst="rect">
            <a:avLst/>
          </a:prstGeom>
          <a:solidFill xmlns:a="http://schemas.openxmlformats.org/drawingml/2006/main">
            <a:srgbClr val="173F36"/>
          </a:solidFill>
          <a:ln xmlns:a="http://schemas.openxmlformats.org/drawingml/2006/main" w="9525">
            <a:solidFill>
              <a:srgbClr val="173F36"/>
            </a:solidFill>
          </a:ln>
        </p:spPr>
      </p:sp>
      <p:sp>
        <p:nvSpPr>
          <p:cNvPr id="5" name="">
            <a:extLst xmlns:a="http://schemas.openxmlformats.org/drawingml/2006/main">
              <a:ext uri="{FF2B5EF4-FFF2-40B4-BE49-F238E27FC236}">
                <a16:creationId xmlns:a16="http://schemas.microsoft.com/office/drawing/2014/main" id="{79513E32-75D1-4A0E-AF26-5107179A9E11}"/>
              </a:ext>
            </a:extLst>
          </p:cNvPr>
          <p:cNvSpPr>
            <a:spLocks xmlns:a="http://schemas.openxmlformats.org/drawingml/2006/main" noGrp="1"/>
          </p:cNvSpPr>
          <p:nvPr/>
        </p:nvSpPr>
        <p:spPr>
          <a:xfrm xmlns:a="http://schemas.openxmlformats.org/drawingml/2006/main">
            <a:off x="800100" y="5772150"/>
            <a:ext cx="106013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FFFFFF"/>
                </a:solidFill>
                <a:latin typeface="Aptos"/>
                <a:ea typeface="Aptos"/>
                <a:cs typeface="Aptos"/>
              </a:defRPr>
            </a:pPr>
            <a:r>
              <a:rPr sz="1875" b="1">
                <a:solidFill>
                  <a:srgbClr val="FFFFFF"/>
                </a:solidFill>
                <a:latin typeface="Aptos"/>
                <a:ea typeface="Aptos"/>
                <a:cs typeface="Aptos"/>
              </a:rPr>
              <a:t>Opportunity: bring Forge lessons and requirements methods into the ETL workflow.</a:t>
            </a:r>
          </a:p>
        </p:txBody>
      </p:sp>
      <p:sp>
        <p:nvSpPr>
          <p:cNvPr id="6" name="">
            <a:extLst xmlns:a="http://schemas.openxmlformats.org/drawingml/2006/main">
              <a:ext uri="{FF2B5EF4-FFF2-40B4-BE49-F238E27FC236}">
                <a16:creationId xmlns:a16="http://schemas.microsoft.com/office/drawing/2014/main" id="{DB9226D6-60BC-450F-8E65-512574008DEB}"/>
              </a:ext>
            </a:extLst>
          </p:cNvPr>
          <p:cNvSpPr>
            <a:spLocks xmlns:a="http://schemas.openxmlformats.org/drawingml/2006/main" noGrp="1"/>
          </p:cNvSpPr>
          <p:nvPr/>
        </p:nvSpPr>
        <p:spPr>
          <a:xfrm xmlns:a="http://schemas.openxmlformats.org/drawingml/2006/main">
            <a:off x="609600" y="6419850"/>
            <a:ext cx="10287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125" b="0">
                <a:solidFill>
                  <a:srgbClr val="53675F"/>
                </a:solidFill>
                <a:latin typeface="Aptos"/>
                <a:ea typeface="Aptos"/>
                <a:cs typeface="Aptos"/>
              </a:defRPr>
            </a:pPr>
            <a:r>
              <a:rPr sz="1125" b="0">
                <a:solidFill>
                  <a:srgbClr val="53675F"/>
                </a:solidFill>
                <a:latin typeface="Aptos"/>
                <a:ea typeface="Aptos"/>
                <a:cs typeface="Aptos"/>
              </a:rPr>
              <a:t>Forge: 1 Sep audit + follow-up. ETL: references and later reports through 11 Sep. No new Forge runtime audit.</a:t>
            </a:r>
          </a:p>
        </p:txBody>
      </p:sp>
      <p:sp>
        <p:nvSpPr>
          <p:cNvPr id="7" name="">
            <a:extLst xmlns:a="http://schemas.openxmlformats.org/drawingml/2006/main">
              <a:ext uri="{FF2B5EF4-FFF2-40B4-BE49-F238E27FC236}">
                <a16:creationId xmlns:a16="http://schemas.microsoft.com/office/drawing/2014/main" id="{0D4934BA-3391-440D-AB9A-67C926441B65}"/>
              </a:ext>
            </a:extLst>
          </p:cNvPr>
          <p:cNvSpPr>
            <a:spLocks xmlns:a="http://schemas.openxmlformats.org/drawingml/2006/main" noGrp="1"/>
          </p:cNvSpPr>
          <p:nvPr/>
        </p:nvSpPr>
        <p:spPr>
          <a:xfrm xmlns:a="http://schemas.openxmlformats.org/drawingml/2006/main">
            <a:off x="11049000" y="6400800"/>
            <a:ext cx="533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275" b="1">
                <a:solidFill>
                  <a:srgbClr val="087E60"/>
                </a:solidFill>
                <a:latin typeface="Aptos"/>
                <a:ea typeface="Aptos"/>
                <a:cs typeface="Aptos"/>
              </a:defRPr>
            </a:pPr>
            <a:r>
              <a:rPr sz="1275" b="1">
                <a:solidFill>
                  <a:srgbClr val="087E60"/>
                </a:solidFill>
                <a:latin typeface="Aptos"/>
                <a:ea typeface="Aptos"/>
                <a:cs typeface="Aptos"/>
              </a:rPr>
              <a:t>06</a:t>
            </a:r>
          </a:p>
        </p:txBody>
      </p:sp>
    </p:spTree>
    <p:extLst>
      <p:ext uri="{BB962C8B-B14F-4D97-AF65-F5344CB8AC3E}">
        <p14:creationId xmlns:p14="http://schemas.microsoft.com/office/powerpoint/2010/main" val="70176337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2026-09-11T12:24:51.7050000Z</dcterms:created>
  <dcterms:modified xsi:type="dcterms:W3CDTF">2026-09-11T12:24:51.7050000Z</dcterms:modified>
</coreProperties>
</file>